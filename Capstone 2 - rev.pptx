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y="5143500" cx="9144000"/>
  <p:notesSz cx="6858000" cy="9144000"/>
  <p:embeddedFontLst>
    <p:embeddedFont>
      <p:font typeface="Roboto"/>
      <p:regular r:id="rId33"/>
      <p:bold r:id="rId34"/>
      <p:italic r:id="rId35"/>
      <p:boldItalic r:id="rId36"/>
    </p:embeddedFont>
    <p:embeddedFont>
      <p:font typeface="Roboto Medium"/>
      <p:regular r:id="rId37"/>
      <p:bold r:id="rId38"/>
      <p:italic r:id="rId39"/>
      <p:boldItalic r:id="rId40"/>
    </p:embeddedFont>
    <p:embeddedFont>
      <p:font typeface="Montserrat"/>
      <p:regular r:id="rId41"/>
      <p:bold r:id="rId42"/>
      <p:italic r:id="rId43"/>
      <p:boldItalic r:id="rId44"/>
    </p:embeddedFont>
    <p:embeddedFont>
      <p:font typeface="Lato"/>
      <p:regular r:id="rId45"/>
      <p:bold r:id="rId46"/>
      <p:italic r:id="rId47"/>
      <p:boldItalic r:id="rId48"/>
    </p:embeddedFont>
    <p:embeddedFont>
      <p:font typeface="Roboto Mono"/>
      <p:regular r:id="rId49"/>
      <p:bold r:id="rId50"/>
      <p:italic r:id="rId51"/>
      <p:boldItalic r:id="rId5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DD83715-1649-43CB-B55C-5A9C24F0DBB3}">
  <a:tblStyle styleId="{ADD83715-1649-43CB-B55C-5A9C24F0DBB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edium-boldItalic.fntdata"/><Relationship Id="rId42" Type="http://schemas.openxmlformats.org/officeDocument/2006/relationships/font" Target="fonts/Montserrat-bold.fntdata"/><Relationship Id="rId41" Type="http://schemas.openxmlformats.org/officeDocument/2006/relationships/font" Target="fonts/Montserrat-regular.fntdata"/><Relationship Id="rId44" Type="http://schemas.openxmlformats.org/officeDocument/2006/relationships/font" Target="fonts/Montserrat-boldItalic.fntdata"/><Relationship Id="rId43" Type="http://schemas.openxmlformats.org/officeDocument/2006/relationships/font" Target="fonts/Montserrat-italic.fntdata"/><Relationship Id="rId46" Type="http://schemas.openxmlformats.org/officeDocument/2006/relationships/font" Target="fonts/Lato-bold.fntdata"/><Relationship Id="rId45" Type="http://schemas.openxmlformats.org/officeDocument/2006/relationships/font" Target="fonts/La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Lato-boldItalic.fntdata"/><Relationship Id="rId47" Type="http://schemas.openxmlformats.org/officeDocument/2006/relationships/font" Target="fonts/Lato-italic.fntdata"/><Relationship Id="rId49" Type="http://schemas.openxmlformats.org/officeDocument/2006/relationships/font" Target="fonts/RobotoMono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font" Target="fonts/Roboto-regular.fntdata"/><Relationship Id="rId32" Type="http://schemas.openxmlformats.org/officeDocument/2006/relationships/slide" Target="slides/slide26.xml"/><Relationship Id="rId35" Type="http://schemas.openxmlformats.org/officeDocument/2006/relationships/font" Target="fonts/Roboto-italic.fntdata"/><Relationship Id="rId34" Type="http://schemas.openxmlformats.org/officeDocument/2006/relationships/font" Target="fonts/Roboto-bold.fntdata"/><Relationship Id="rId37" Type="http://schemas.openxmlformats.org/officeDocument/2006/relationships/font" Target="fonts/RobotoMedium-regular.fntdata"/><Relationship Id="rId36" Type="http://schemas.openxmlformats.org/officeDocument/2006/relationships/font" Target="fonts/Roboto-boldItalic.fntdata"/><Relationship Id="rId39" Type="http://schemas.openxmlformats.org/officeDocument/2006/relationships/font" Target="fonts/RobotoMedium-italic.fntdata"/><Relationship Id="rId38" Type="http://schemas.openxmlformats.org/officeDocument/2006/relationships/font" Target="fonts/RobotoMedium-bold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RobotoMono-italic.fntdata"/><Relationship Id="rId50" Type="http://schemas.openxmlformats.org/officeDocument/2006/relationships/font" Target="fonts/RobotoMono-bold.fntdata"/><Relationship Id="rId52" Type="http://schemas.openxmlformats.org/officeDocument/2006/relationships/font" Target="fonts/RobotoMono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ea1dbc53c1_0_18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ea1dbc53c1_0_18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a1dbc53c1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ea1dbc53c1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ea1dbc53c1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ea1dbc53c1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ea1dbc53c1_0_18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ea1dbc53c1_0_18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f27d65ec9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f27d65ec9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f27d65ec9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f27d65ec9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f27d65ec98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f27d65ec9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f27d65ec98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f27d65ec9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f27d65ec98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f27d65ec98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f27d65ec98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f27d65ec98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f27d65ec98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f27d65ec98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f27d65ec98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f27d65ec98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f27d65ec98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f27d65ec98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f27d65ec98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f27d65ec98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f2a06e8e2c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f2a06e8e2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ea1dbc53c1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ea1dbc53c1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ea1dbc53c1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ea1dbc53c1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ea1dbc53c1_0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ea1dbc53c1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ea1dbc53c1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ea1dbc53c1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ea1dbc53c1_0_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ea1dbc53c1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ea5f071cf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ea5f071cf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f2a06e8e2c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3f2a06e8e2c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f2a06e8e2c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f2a06e8e2c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f2a06e8e2c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f2a06e8e2c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ea1dbc53c1_0_15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3ea1dbc53c1_0_15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1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1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spd="slow" p14:dur="1500">
        <p:fade thruBlk="1"/>
      </p:transition>
    </mc:Choice>
    <mc:Fallback>
      <p:transition spd="slow">
        <p:fade/>
      </p:transition>
    </mc:Fallback>
  </mc:AlternateConten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Relationship Id="rId4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Relationship Id="rId4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jpg"/><Relationship Id="rId4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jpg"/><Relationship Id="rId4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jpg"/><Relationship Id="rId4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0.jpg"/><Relationship Id="rId4" Type="http://schemas.openxmlformats.org/officeDocument/2006/relationships/image" Target="../media/image1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8.jpg"/><Relationship Id="rId4" Type="http://schemas.openxmlformats.org/officeDocument/2006/relationships/image" Target="../media/image1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9.jpg"/><Relationship Id="rId4" Type="http://schemas.openxmlformats.org/officeDocument/2006/relationships/image" Target="../media/image1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7.jpg"/><Relationship Id="rId4" Type="http://schemas.openxmlformats.org/officeDocument/2006/relationships/image" Target="../media/image1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id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Data-Driven Football Analytics: Mengoptimalkan Efisiensi Finansial dan Strategi Taktis Klub Menggunakan FIFA Players Dataset </a:t>
            </a:r>
            <a:endParaRPr b="1" sz="2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id" sz="1018">
                <a:latin typeface="Arial"/>
                <a:ea typeface="Arial"/>
                <a:cs typeface="Arial"/>
                <a:sym typeface="Arial"/>
              </a:rPr>
              <a:t>Pendekatan </a:t>
            </a:r>
            <a:r>
              <a:rPr i="1" lang="id" sz="1018">
                <a:latin typeface="Arial"/>
                <a:ea typeface="Arial"/>
                <a:cs typeface="Arial"/>
                <a:sym typeface="Arial"/>
              </a:rPr>
              <a:t>Data Analytics</a:t>
            </a:r>
            <a:r>
              <a:rPr lang="id" sz="1018">
                <a:latin typeface="Arial"/>
                <a:ea typeface="Arial"/>
                <a:cs typeface="Arial"/>
                <a:sym typeface="Arial"/>
              </a:rPr>
              <a:t> untuk Keputusan Investasi Pemain Muda dan Rekrutmen Skuad Cerdas </a:t>
            </a:r>
            <a:endParaRPr sz="1018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018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3"/>
          <p:cNvSpPr txBox="1"/>
          <p:nvPr/>
        </p:nvSpPr>
        <p:spPr>
          <a:xfrm>
            <a:off x="5083950" y="437530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000">
                <a:solidFill>
                  <a:schemeClr val="lt1"/>
                </a:solidFill>
              </a:rPr>
              <a:t>Arif Hanifan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37" name="Google Shape;137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  <p:sp>
        <p:nvSpPr>
          <p:cNvPr id="138" name="Google Shape;138;p13"/>
          <p:cNvSpPr txBox="1"/>
          <p:nvPr/>
        </p:nvSpPr>
        <p:spPr>
          <a:xfrm>
            <a:off x="-9" y="4690675"/>
            <a:ext cx="4314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000">
                <a:solidFill>
                  <a:schemeClr val="lt1"/>
                </a:solidFill>
              </a:rPr>
              <a:t>https://github.com/arifhanifan22-jpg/Capstone-Project-Modul-2.git</a:t>
            </a:r>
            <a:endParaRPr b="1" sz="1000">
              <a:solidFill>
                <a:schemeClr val="lt1"/>
              </a:solidFill>
            </a:endParaRPr>
          </a:p>
        </p:txBody>
      </p:sp>
      <p:pic>
        <p:nvPicPr>
          <p:cNvPr id="139" name="Google Shape;139;p13" title="logopwdk-03_1jg.original.png"/>
          <p:cNvPicPr preferRelativeResize="0"/>
          <p:nvPr/>
        </p:nvPicPr>
        <p:blipFill>
          <a:blip r:embed="rId4">
            <a:alphaModFix amt="49000"/>
          </a:blip>
          <a:stretch>
            <a:fillRect/>
          </a:stretch>
        </p:blipFill>
        <p:spPr>
          <a:xfrm>
            <a:off x="7198700" y="0"/>
            <a:ext cx="1945298" cy="1437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4"/>
          <p:cNvSpPr txBox="1"/>
          <p:nvPr>
            <p:ph type="title"/>
          </p:nvPr>
        </p:nvSpPr>
        <p:spPr>
          <a:xfrm>
            <a:off x="294152" y="486675"/>
            <a:ext cx="8433300" cy="5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Latar Belakang &amp; Masalah</a:t>
            </a:r>
            <a:r>
              <a:rPr lang="id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5" name="Google Shape;145;p14"/>
          <p:cNvGrpSpPr/>
          <p:nvPr/>
        </p:nvGrpSpPr>
        <p:grpSpPr>
          <a:xfrm>
            <a:off x="5612245" y="1437501"/>
            <a:ext cx="3115639" cy="2976546"/>
            <a:chOff x="5616481" y="1206023"/>
            <a:chExt cx="3313805" cy="3021260"/>
          </a:xfrm>
        </p:grpSpPr>
        <p:sp>
          <p:nvSpPr>
            <p:cNvPr id="146" name="Google Shape;146;p14"/>
            <p:cNvSpPr/>
            <p:nvPr/>
          </p:nvSpPr>
          <p:spPr>
            <a:xfrm>
              <a:off x="5616481" y="1206023"/>
              <a:ext cx="3313800" cy="669000"/>
            </a:xfrm>
            <a:prstGeom prst="chevron">
              <a:avLst>
                <a:gd fmla="val 50000" name="adj"/>
              </a:avLst>
            </a:prstGeom>
            <a:solidFill>
              <a:srgbClr val="0B7743"/>
            </a:solidFill>
            <a:ln>
              <a:noFill/>
            </a:ln>
          </p:spPr>
          <p:txBody>
            <a:bodyPr anchorCtr="0" anchor="ctr" bIns="80550" lIns="80550" spcFirstLastPara="1" rIns="80550" wrap="square" tIns="8055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b="1" lang="id" sz="1100">
                  <a:solidFill>
                    <a:schemeClr val="lt1"/>
                  </a:solidFill>
                </a:rPr>
                <a:t>Solusi &amp; Pendekatan Data (The Objective)</a:t>
              </a:r>
              <a:endParaRPr sz="1233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7" name="Google Shape;147;p14"/>
            <p:cNvSpPr txBox="1"/>
            <p:nvPr/>
          </p:nvSpPr>
          <p:spPr>
            <a:xfrm>
              <a:off x="5616485" y="1858783"/>
              <a:ext cx="3313800" cy="236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550" lIns="80550" spcFirstLastPara="1" rIns="80550" wrap="square" tIns="80550">
              <a:noAutofit/>
            </a:bodyPr>
            <a:lstStyle/>
            <a:p>
              <a:pPr indent="-298450" lvl="0" marL="45720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Char char="●"/>
              </a:pPr>
              <a:r>
                <a:rPr lang="id" sz="1100">
                  <a:solidFill>
                    <a:schemeClr val="dk1"/>
                  </a:solidFill>
                </a:rPr>
                <a:t>Mentransformasi data mentah atribut pemain (FIFA Dataset) menjadi instrumen keputusan rekrutmen taktis cerdas.</a:t>
              </a:r>
              <a:endParaRPr sz="1100">
                <a:solidFill>
                  <a:schemeClr val="dk1"/>
                </a:solidFill>
              </a:endParaRPr>
            </a:p>
            <a:p>
              <a:pPr indent="-2984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Char char="●"/>
              </a:pPr>
              <a:r>
                <a:rPr lang="id" sz="1100">
                  <a:solidFill>
                    <a:schemeClr val="dk1"/>
                  </a:solidFill>
                </a:rPr>
                <a:t>Menggeser fokus belanja ke </a:t>
              </a:r>
              <a:r>
                <a:rPr b="1" lang="id" sz="1100">
                  <a:solidFill>
                    <a:schemeClr val="dk1"/>
                  </a:solidFill>
                </a:rPr>
                <a:t>Pembinaan Usia Dini &amp; Pembangunan Akademi</a:t>
              </a:r>
              <a:r>
                <a:rPr lang="id" sz="1100">
                  <a:solidFill>
                    <a:schemeClr val="dk1"/>
                  </a:solidFill>
                </a:rPr>
                <a:t> sebagai investasi efisien dengan </a:t>
              </a:r>
              <a:r>
                <a:rPr i="1" lang="id" sz="1100">
                  <a:solidFill>
                    <a:schemeClr val="dk1"/>
                  </a:solidFill>
                </a:rPr>
                <a:t>Return on Investment</a:t>
              </a:r>
              <a:r>
                <a:rPr lang="id" sz="1100">
                  <a:solidFill>
                    <a:schemeClr val="dk1"/>
                  </a:solidFill>
                </a:rPr>
                <a:t> (ROI) tertinggi.</a:t>
              </a:r>
              <a:endParaRPr sz="1057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8" name="Google Shape;148;p14"/>
          <p:cNvGrpSpPr/>
          <p:nvPr/>
        </p:nvGrpSpPr>
        <p:grpSpPr>
          <a:xfrm>
            <a:off x="294150" y="1437704"/>
            <a:ext cx="2790558" cy="3067433"/>
            <a:chOff x="0" y="1189983"/>
            <a:chExt cx="3474300" cy="3482553"/>
          </a:xfrm>
        </p:grpSpPr>
        <p:sp>
          <p:nvSpPr>
            <p:cNvPr id="149" name="Google Shape;149;p14"/>
            <p:cNvSpPr/>
            <p:nvPr/>
          </p:nvSpPr>
          <p:spPr>
            <a:xfrm>
              <a:off x="0" y="1189983"/>
              <a:ext cx="3474300" cy="745800"/>
            </a:xfrm>
            <a:prstGeom prst="homePlate">
              <a:avLst>
                <a:gd fmla="val 50000" name="adj"/>
              </a:avLst>
            </a:prstGeom>
            <a:solidFill>
              <a:srgbClr val="085630"/>
            </a:solidFill>
            <a:ln>
              <a:noFill/>
            </a:ln>
          </p:spPr>
          <p:txBody>
            <a:bodyPr anchorCtr="0" anchor="ctr" bIns="80550" lIns="80550" spcFirstLastPara="1" rIns="80550" wrap="square" tIns="80550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b="1" lang="id" sz="1100">
                  <a:solidFill>
                    <a:schemeClr val="lt1"/>
                  </a:solidFill>
                </a:rPr>
                <a:t>Latar Belakang Industri (The Context)</a:t>
              </a:r>
              <a:endParaRPr sz="1233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0" name="Google Shape;150;p14"/>
            <p:cNvSpPr txBox="1"/>
            <p:nvPr/>
          </p:nvSpPr>
          <p:spPr>
            <a:xfrm>
              <a:off x="0" y="1935636"/>
              <a:ext cx="3474300" cy="273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550" lIns="80550" spcFirstLastPara="1" rIns="80550" wrap="square" tIns="80550">
              <a:noAutofit/>
            </a:bodyPr>
            <a:lstStyle/>
            <a:p>
              <a:pPr indent="-298450" lvl="0" marL="45720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Char char="●"/>
              </a:pPr>
              <a:r>
                <a:rPr b="1" lang="id" sz="1100">
                  <a:solidFill>
                    <a:schemeClr val="dk1"/>
                  </a:solidFill>
                </a:rPr>
                <a:t>Hiper-Inflasi Pasar Transfer:</a:t>
              </a:r>
              <a:r>
                <a:rPr lang="id" sz="1100">
                  <a:solidFill>
                    <a:schemeClr val="dk1"/>
                  </a:solidFill>
                </a:rPr>
                <a:t> Harga pasar pemain bintang di era modern melonjak sangat ekstrem secara eksponensial.</a:t>
              </a:r>
              <a:endParaRPr sz="1100">
                <a:solidFill>
                  <a:schemeClr val="dk1"/>
                </a:solidFill>
              </a:endParaRPr>
            </a:p>
            <a:p>
              <a:pPr indent="-2984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Char char="●"/>
              </a:pPr>
              <a:r>
                <a:rPr b="1" lang="id" sz="1100">
                  <a:solidFill>
                    <a:schemeClr val="dk1"/>
                  </a:solidFill>
                </a:rPr>
                <a:t>Beban Finansial Klub:</a:t>
              </a:r>
              <a:r>
                <a:rPr lang="id" sz="1100">
                  <a:solidFill>
                    <a:schemeClr val="dk1"/>
                  </a:solidFill>
                </a:rPr>
                <a:t> Gaji mingguan pemain elit (wage_euro) yang bengkak mengancam stabilitas keuangan klub dan meningkatkan risiko sanksi </a:t>
              </a:r>
              <a:r>
                <a:rPr i="1" lang="id" sz="1100">
                  <a:solidFill>
                    <a:schemeClr val="dk1"/>
                  </a:solidFill>
                </a:rPr>
                <a:t>Financial Fair Play</a:t>
              </a:r>
              <a:r>
                <a:rPr lang="id" sz="1100">
                  <a:solidFill>
                    <a:schemeClr val="dk1"/>
                  </a:solidFill>
                </a:rPr>
                <a:t> (FFP)</a:t>
              </a:r>
              <a:endParaRPr sz="1057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51" name="Google Shape;151;p14"/>
          <p:cNvGrpSpPr/>
          <p:nvPr/>
        </p:nvGrpSpPr>
        <p:grpSpPr>
          <a:xfrm>
            <a:off x="3084638" y="1437479"/>
            <a:ext cx="2527599" cy="3068061"/>
            <a:chOff x="2944197" y="1189780"/>
            <a:chExt cx="3548503" cy="3483266"/>
          </a:xfrm>
        </p:grpSpPr>
        <p:sp>
          <p:nvSpPr>
            <p:cNvPr id="152" name="Google Shape;152;p14"/>
            <p:cNvSpPr/>
            <p:nvPr/>
          </p:nvSpPr>
          <p:spPr>
            <a:xfrm>
              <a:off x="2944197" y="1189780"/>
              <a:ext cx="3548100" cy="745800"/>
            </a:xfrm>
            <a:prstGeom prst="chevron">
              <a:avLst>
                <a:gd fmla="val 50000" name="adj"/>
              </a:avLst>
            </a:prstGeom>
            <a:solidFill>
              <a:srgbClr val="0B713F"/>
            </a:solidFill>
            <a:ln>
              <a:noFill/>
            </a:ln>
          </p:spPr>
          <p:txBody>
            <a:bodyPr anchorCtr="0" anchor="ctr" bIns="80550" lIns="80550" spcFirstLastPara="1" rIns="80550" wrap="square" tIns="8055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b="1" lang="id" sz="1100">
                  <a:solidFill>
                    <a:schemeClr val="lt1"/>
                  </a:solidFill>
                </a:rPr>
                <a:t>Rumusan Masalah (The Challenge)</a:t>
              </a:r>
              <a:endParaRPr sz="1233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3" name="Google Shape;153;p14"/>
            <p:cNvSpPr txBox="1"/>
            <p:nvPr/>
          </p:nvSpPr>
          <p:spPr>
            <a:xfrm>
              <a:off x="2944600" y="1935546"/>
              <a:ext cx="3548100" cy="273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550" lIns="80550" spcFirstLastPara="1" rIns="80550" wrap="square" tIns="80550">
              <a:noAutofit/>
            </a:bodyPr>
            <a:lstStyle/>
            <a:p>
              <a:pPr indent="-298450" lvl="0" marL="45720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Char char="●"/>
              </a:pPr>
              <a:r>
                <a:rPr i="1" lang="id" sz="1100">
                  <a:solidFill>
                    <a:schemeClr val="dk1"/>
                  </a:solidFill>
                </a:rPr>
                <a:t>Bagaimana klub dengan anggaran terbatas tetap bisa kompetitif secara prestasi tanpa mengalami kebangkrutan finansial?</a:t>
              </a:r>
              <a:endParaRPr i="1" sz="1100">
                <a:solidFill>
                  <a:schemeClr val="dk1"/>
                </a:solidFill>
              </a:endParaRPr>
            </a:p>
            <a:p>
              <a:pPr indent="-2984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Char char="●"/>
              </a:pPr>
              <a:r>
                <a:rPr i="1" lang="id" sz="1100">
                  <a:solidFill>
                    <a:schemeClr val="dk1"/>
                  </a:solidFill>
                </a:rPr>
                <a:t>Bagaimana meminimalkan bias intuisi tradisional dalam pemanduan bakat (scouting) agar investasi pemain tidak gagal?</a:t>
              </a:r>
              <a:endParaRPr sz="1057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54" name="Google Shape;15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  <p:pic>
        <p:nvPicPr>
          <p:cNvPr id="155" name="Google Shape;155;p14" title="logopwdk-03_1jg.original.png"/>
          <p:cNvPicPr preferRelativeResize="0"/>
          <p:nvPr/>
        </p:nvPicPr>
        <p:blipFill>
          <a:blip r:embed="rId3">
            <a:alphaModFix amt="49000"/>
          </a:blip>
          <a:stretch>
            <a:fillRect/>
          </a:stretch>
        </p:blipFill>
        <p:spPr>
          <a:xfrm>
            <a:off x="7075850" y="0"/>
            <a:ext cx="1945298" cy="1437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5"/>
          <p:cNvSpPr txBox="1"/>
          <p:nvPr>
            <p:ph type="title"/>
          </p:nvPr>
        </p:nvSpPr>
        <p:spPr>
          <a:xfrm>
            <a:off x="1272075" y="115900"/>
            <a:ext cx="7436400" cy="49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id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Executive Summary: 10 Target Strategis Pengembangan Akademi</a:t>
            </a:r>
            <a:endParaRPr b="1"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5"/>
          <p:cNvSpPr txBox="1"/>
          <p:nvPr>
            <p:ph idx="1" type="body"/>
          </p:nvPr>
        </p:nvSpPr>
        <p:spPr>
          <a:xfrm>
            <a:off x="1272075" y="434625"/>
            <a:ext cx="7604400" cy="42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d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Executive Summary: Matriks Strategi Pengembangan Akademi (Poin 1-5) 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62" name="Google Shape;162;p15"/>
          <p:cNvGraphicFramePr/>
          <p:nvPr/>
        </p:nvGraphicFramePr>
        <p:xfrm>
          <a:off x="135200" y="1008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{ADD83715-1649-43CB-B55C-5A9C24F0DBB3}</a:tableStyleId>
              </a:tblPr>
              <a:tblGrid>
                <a:gridCol w="1397950"/>
                <a:gridCol w="1433575"/>
                <a:gridCol w="1761275"/>
                <a:gridCol w="2096100"/>
                <a:gridCol w="2188725"/>
              </a:tblGrid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d" sz="1100">
                          <a:solidFill>
                            <a:schemeClr val="dk1"/>
                          </a:solidFill>
                        </a:rPr>
                        <a:t>Goals 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d" sz="1100">
                          <a:solidFill>
                            <a:schemeClr val="dk1"/>
                          </a:solidFill>
                        </a:rPr>
                        <a:t>Key Metric 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d" sz="1100">
                          <a:solidFill>
                            <a:schemeClr val="dk1"/>
                          </a:solidFill>
                        </a:rPr>
                        <a:t>Target 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d" sz="1100">
                          <a:solidFill>
                            <a:schemeClr val="dk1"/>
                          </a:solidFill>
                        </a:rPr>
                        <a:t>Action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d" sz="1100">
                          <a:solidFill>
                            <a:schemeClr val="dk1"/>
                          </a:solidFill>
                        </a:rPr>
                        <a:t>Ideal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5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1. Identifikasi Bakat Berpotensi Tinggi 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Rata-rata nilai potensi pertumbuhan (</a:t>
                      </a:r>
                      <a:r>
                        <a:rPr lang="id" sz="80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growth</a:t>
                      </a:r>
                      <a:r>
                        <a:rPr lang="id" sz="800">
                          <a:solidFill>
                            <a:schemeClr val="dk1"/>
                          </a:solidFill>
                        </a:rPr>
                        <a:t>) pemain akademi 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Setiap pemain baru akademi wajib memiliki proyeksi growth &gt; 15 poin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Menggunakan algoritma Python untuk menyaring pemain luar di bawah usia 18 tahun yang memiliki jarak jauh antara </a:t>
                      </a:r>
                      <a:r>
                        <a:rPr i="1" lang="id" sz="800">
                          <a:solidFill>
                            <a:schemeClr val="dk1"/>
                          </a:solidFill>
                        </a:rPr>
                        <a:t>Overall</a:t>
                      </a:r>
                      <a:r>
                        <a:rPr lang="id" sz="800">
                          <a:solidFill>
                            <a:schemeClr val="dk1"/>
                          </a:solidFill>
                        </a:rPr>
                        <a:t> saat ini dengan </a:t>
                      </a:r>
                      <a:r>
                        <a:rPr i="1" lang="id" sz="800">
                          <a:solidFill>
                            <a:schemeClr val="dk1"/>
                          </a:solidFill>
                        </a:rPr>
                        <a:t>Potential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Akademi diisi 100% oleh aset muda yang memiliki garansi kualitas untuk menjadi pemain bintang di masa depan</a:t>
                      </a:r>
                      <a:endParaRPr sz="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2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2. Efisiensi Anggaran Belanja Pemain Utama 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Rasio Belanja Transfer Tim Utama vs Biaya Operasional Akademi 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Alokasi anggaran operasional akademi dinaikkan hingga 15% dari total </a:t>
                      </a:r>
                      <a:r>
                        <a:rPr i="1" lang="id" sz="800">
                          <a:solidFill>
                            <a:schemeClr val="dk1"/>
                          </a:solidFill>
                        </a:rPr>
                        <a:t>budget</a:t>
                      </a:r>
                      <a:r>
                        <a:rPr lang="id" sz="800">
                          <a:solidFill>
                            <a:schemeClr val="dk1"/>
                          </a:solidFill>
                        </a:rPr>
                        <a:t> klub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Menghentikan pembelian pemain luar kategori </a:t>
                      </a:r>
                      <a:r>
                        <a:rPr i="1" lang="id" sz="800">
                          <a:solidFill>
                            <a:schemeClr val="dk1"/>
                          </a:solidFill>
                        </a:rPr>
                        <a:t>Golden Age</a:t>
                      </a:r>
                      <a:r>
                        <a:rPr lang="id" sz="800">
                          <a:solidFill>
                            <a:schemeClr val="dk1"/>
                          </a:solidFill>
                        </a:rPr>
                        <a:t> yang </a:t>
                      </a:r>
                      <a:r>
                        <a:rPr i="1" lang="id" sz="800">
                          <a:solidFill>
                            <a:schemeClr val="dk1"/>
                          </a:solidFill>
                        </a:rPr>
                        <a:t>overpriced</a:t>
                      </a:r>
                      <a:r>
                        <a:rPr lang="id" sz="800">
                          <a:solidFill>
                            <a:schemeClr val="dk1"/>
                          </a:solidFill>
                        </a:rPr>
                        <a:t>, lalu mengalihkan dananya untuk pembaruan fasilitas latihan akademi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Klub mandiri secara skuad dan terhindar dari risiko kebangkrutan akibat inflasi harga pasar transfer dunia nyata</a:t>
                      </a:r>
                      <a:endParaRPr sz="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1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3. Akselerasi Kematangan Rating Pemain 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Kenaikan poin rata-rata </a:t>
                      </a:r>
                      <a:r>
                        <a:rPr i="1" lang="id" sz="800">
                          <a:solidFill>
                            <a:schemeClr val="dk1"/>
                          </a:solidFill>
                        </a:rPr>
                        <a:t>Overall Rating</a:t>
                      </a:r>
                      <a:r>
                        <a:rPr lang="id" sz="800">
                          <a:solidFill>
                            <a:schemeClr val="dk1"/>
                          </a:solidFill>
                        </a:rPr>
                        <a:t> per musim 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Pemain akademi usia &lt; 21 tahun wajib naik minimal +3 hingga +5 poin OVR setiap musimnya</a:t>
                      </a:r>
                      <a:r>
                        <a:rPr lang="id" sz="800">
                          <a:solidFill>
                            <a:schemeClr val="dk1"/>
                          </a:solidFill>
                        </a:rPr>
                        <a:t> 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Menyusun porsi latihan individu berkala yang fokus pada peningkatan atribut mekanis vital sesuai posisi (misal: </a:t>
                      </a:r>
                      <a:r>
                        <a:rPr i="1" lang="id" sz="800">
                          <a:solidFill>
                            <a:schemeClr val="dk1"/>
                          </a:solidFill>
                        </a:rPr>
                        <a:t>Finishing</a:t>
                      </a:r>
                      <a:r>
                        <a:rPr lang="id" sz="800">
                          <a:solidFill>
                            <a:schemeClr val="dk1"/>
                          </a:solidFill>
                        </a:rPr>
                        <a:t> untuk penyerang)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Pemain akademi mencapai level elit/matang (</a:t>
                      </a:r>
                      <a:r>
                        <a:rPr i="1" lang="id" sz="800">
                          <a:solidFill>
                            <a:schemeClr val="dk1"/>
                          </a:solidFill>
                        </a:rPr>
                        <a:t>peak performance</a:t>
                      </a:r>
                      <a:r>
                        <a:rPr lang="id" sz="800">
                          <a:solidFill>
                            <a:schemeClr val="dk1"/>
                          </a:solidFill>
                        </a:rPr>
                        <a:t>) lebih cepat sebelum mereka menyentuh usia 23 tahun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9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4. Struktur Gaji Klub yang Sehat &amp; Efisien 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Rasio beban gaji (</a:t>
                      </a:r>
                      <a:r>
                        <a:rPr lang="id" sz="80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wage_euro</a:t>
                      </a:r>
                      <a:r>
                        <a:rPr lang="id" sz="800">
                          <a:solidFill>
                            <a:schemeClr val="dk1"/>
                          </a:solidFill>
                        </a:rPr>
                        <a:t>) pemain akademi vs total pengeluaran gaji 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Menghemat total pengeluaran gaji klub hingga 25% dengan mengisi bangku cadangan menggunakan pemain akademi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Menerapkan kebijakan kontrak profesional berjenjang berbasis performa (</a:t>
                      </a:r>
                      <a:r>
                        <a:rPr i="1" lang="id" sz="800">
                          <a:solidFill>
                            <a:schemeClr val="dk1"/>
                          </a:solidFill>
                        </a:rPr>
                        <a:t>performance-based bonus</a:t>
                      </a:r>
                      <a:r>
                        <a:rPr lang="id" sz="800">
                          <a:solidFill>
                            <a:schemeClr val="dk1"/>
                          </a:solidFill>
                        </a:rPr>
                        <a:t>) bagi pemain lulusan akademi yang promosi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Beban finansial klub tetap aman dan lolos dari jeratan hukum sanksi </a:t>
                      </a:r>
                      <a:r>
                        <a:rPr i="1" lang="id" sz="800">
                          <a:solidFill>
                            <a:schemeClr val="dk1"/>
                          </a:solidFill>
                        </a:rPr>
                        <a:t>Financial Fair Play</a:t>
                      </a:r>
                      <a:r>
                        <a:rPr lang="id" sz="800">
                          <a:solidFill>
                            <a:schemeClr val="dk1"/>
                          </a:solidFill>
                        </a:rPr>
                        <a:t> (FFP)</a:t>
                      </a:r>
                      <a:r>
                        <a:rPr lang="id" sz="800">
                          <a:solidFill>
                            <a:schemeClr val="dk1"/>
                          </a:solidFill>
                        </a:rPr>
                        <a:t> 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9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5. Optimalisasi Jam Terbang Riil Bakat 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Persentase menit bermain pemain usia dini (&lt;21tahun) 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Minimal 20% dari total menit bermain tim utama dalam satu musim diberikan kepada produk akademi</a:t>
                      </a:r>
                      <a:r>
                        <a:rPr lang="id" sz="800">
                          <a:solidFill>
                            <a:schemeClr val="dk1"/>
                          </a:solidFill>
                        </a:rPr>
                        <a:t> 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Mewajibkan pelatih kepala untuk melakukan rotasi pemain dan memasang minimal 2 pemain akademi saat laga piala domestik</a:t>
                      </a:r>
                      <a:endParaRPr sz="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Pemain muda mendapatkan mental bertanding, pengalaman taktis riil, dan kematangan visi bermain di lapangan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3" name="Google Shape;16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  <p:pic>
        <p:nvPicPr>
          <p:cNvPr id="164" name="Google Shape;164;p15" title="logopwdk-03_1jg.original.png"/>
          <p:cNvPicPr preferRelativeResize="0"/>
          <p:nvPr/>
        </p:nvPicPr>
        <p:blipFill>
          <a:blip r:embed="rId3">
            <a:alphaModFix amt="49000"/>
          </a:blip>
          <a:stretch>
            <a:fillRect/>
          </a:stretch>
        </p:blipFill>
        <p:spPr>
          <a:xfrm>
            <a:off x="7770974" y="0"/>
            <a:ext cx="1373025" cy="100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6"/>
          <p:cNvSpPr txBox="1"/>
          <p:nvPr>
            <p:ph type="title"/>
          </p:nvPr>
        </p:nvSpPr>
        <p:spPr>
          <a:xfrm>
            <a:off x="1272075" y="115900"/>
            <a:ext cx="7668600" cy="49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b="1" lang="id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Executive Summary: 10 Target Strategis Pengembangan Akademi</a:t>
            </a:r>
            <a:endParaRPr b="1"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t/>
            </a:r>
            <a:endParaRPr b="1" sz="1494"/>
          </a:p>
        </p:txBody>
      </p:sp>
      <p:sp>
        <p:nvSpPr>
          <p:cNvPr id="170" name="Google Shape;170;p16"/>
          <p:cNvSpPr txBox="1"/>
          <p:nvPr>
            <p:ph idx="1" type="body"/>
          </p:nvPr>
        </p:nvSpPr>
        <p:spPr>
          <a:xfrm>
            <a:off x="1272075" y="434625"/>
            <a:ext cx="7604400" cy="42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d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Executive Summary: Matriks Strategi Pengembangan Akademi (Poin 6-10)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71" name="Google Shape;171;p16"/>
          <p:cNvGraphicFramePr/>
          <p:nvPr/>
        </p:nvGraphicFramePr>
        <p:xfrm>
          <a:off x="135200" y="1008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{ADD83715-1649-43CB-B55C-5A9C24F0DBB3}</a:tableStyleId>
              </a:tblPr>
              <a:tblGrid>
                <a:gridCol w="1397950"/>
                <a:gridCol w="1369450"/>
                <a:gridCol w="1796900"/>
                <a:gridCol w="2537800"/>
                <a:gridCol w="1775525"/>
              </a:tblGrid>
              <a:tr h="338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d" sz="1100">
                          <a:solidFill>
                            <a:schemeClr val="dk1"/>
                          </a:solidFill>
                        </a:rPr>
                        <a:t>Goals 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d" sz="1100">
                          <a:solidFill>
                            <a:schemeClr val="dk1"/>
                          </a:solidFill>
                        </a:rPr>
                        <a:t>Key Metric 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d" sz="1100">
                          <a:solidFill>
                            <a:schemeClr val="dk1"/>
                          </a:solidFill>
                        </a:rPr>
                        <a:t>Target 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d" sz="1100">
                          <a:solidFill>
                            <a:schemeClr val="dk1"/>
                          </a:solidFill>
                        </a:rPr>
                        <a:t>Action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d" sz="1100">
                          <a:solidFill>
                            <a:schemeClr val="dk1"/>
                          </a:solidFill>
                        </a:rPr>
                        <a:t>Ideal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6. Menjaga Nilai Pasar Surplus Skuad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Jumlah pemain muda akademi yang dipinjamkan ke liga kompetitif 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100% pemain akademi usia 19–21 tahun yang belum menembus tim utama wajib dipinjamkan 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Menjalin kerja sama taktis dengan klub kasta kedua atau liga satelit yang memiliki gaya main agresif untuk mematangkan pemain. 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Atribut fisik dan taktis pemain tetap berkembang tajam, serta nilai pasar (</a:t>
                      </a:r>
                      <a:r>
                        <a:rPr lang="id" sz="80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value_euro</a:t>
                      </a:r>
                      <a:r>
                        <a:rPr lang="id" sz="800">
                          <a:solidFill>
                            <a:schemeClr val="dk1"/>
                          </a:solidFill>
                        </a:rPr>
                        <a:t>) mereka tidak jatuh akibat menganggur</a:t>
                      </a:r>
                      <a:endParaRPr sz="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7. Maksimalisasi ROI (Return on Investment) Finansial Akademi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Keuntungan bersih transfer (</a:t>
                      </a:r>
                      <a:r>
                        <a:rPr i="1" lang="id" sz="800">
                          <a:solidFill>
                            <a:schemeClr val="dk1"/>
                          </a:solidFill>
                        </a:rPr>
                        <a:t>Net Transfer Profit</a:t>
                      </a:r>
                      <a:r>
                        <a:rPr lang="id" sz="800">
                          <a:solidFill>
                            <a:schemeClr val="dk1"/>
                          </a:solidFill>
                        </a:rPr>
                        <a:t>) dari produk akademi 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Menghasilkan keuntungan minimal €20 Juta per tahun dari penjualan surplus bakat akademi 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Menjual pemain akademi yang sudah menyentuh OVR 80+ namun posisinya menumpuk, guna memanfaatkan fenomena lonjakan harga pasar eksponensial 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Akademi menjelma menjadi mesin penghasil uang (</a:t>
                      </a:r>
                      <a:r>
                        <a:rPr i="1" lang="id" sz="800">
                          <a:solidFill>
                            <a:schemeClr val="dk1"/>
                          </a:solidFill>
                        </a:rPr>
                        <a:t>revenue generator</a:t>
                      </a:r>
                      <a:r>
                        <a:rPr lang="id" sz="800">
                          <a:solidFill>
                            <a:schemeClr val="dk1"/>
                          </a:solidFill>
                        </a:rPr>
                        <a:t>) mandiri yang mampu mendanai aktivitas bisnis klub</a:t>
                      </a:r>
                      <a:endParaRPr sz="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8. Standardisasi Filosofi Taktis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Skor kesesuaian atribut teknis pemain akademi dengan tim senior 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Tingkat kemiripan profil atribut (</a:t>
                      </a:r>
                      <a:r>
                        <a:rPr i="1" lang="id" sz="800">
                          <a:solidFill>
                            <a:schemeClr val="dk1"/>
                          </a:solidFill>
                        </a:rPr>
                        <a:t>Skill Profiling</a:t>
                      </a:r>
                      <a:r>
                        <a:rPr lang="id" sz="800">
                          <a:solidFill>
                            <a:schemeClr val="dk1"/>
                          </a:solidFill>
                        </a:rPr>
                        <a:t>) pemain muda dengan tim utama wajib &gt; 85%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Menerapkan kurikulum bermain dan formasi taktis yang seragam dari level tim akademi U-15 hingga tim senior utama 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Pemain muda yang dipromosikan ke tim utama bisa langsung nyetel dengan strategi pelatih tanpa perlu waktu adaptasi 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9. Manajemen Risiko Cedera Aset Muda 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Jumlah hari absen akibat cedera (</a:t>
                      </a:r>
                      <a:r>
                        <a:rPr i="1" lang="id" sz="800">
                          <a:solidFill>
                            <a:schemeClr val="dk1"/>
                          </a:solidFill>
                        </a:rPr>
                        <a:t>Injury Days</a:t>
                      </a:r>
                      <a:r>
                        <a:rPr lang="id" sz="800">
                          <a:solidFill>
                            <a:schemeClr val="dk1"/>
                          </a:solidFill>
                        </a:rPr>
                        <a:t>) per pemain akademi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Menurunkan tingkat cedera otot atau kelelahan pada pemain muda sebesar 40%. 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Membangun unit khusus </a:t>
                      </a:r>
                      <a:r>
                        <a:rPr i="1" lang="id" sz="800">
                          <a:solidFill>
                            <a:schemeClr val="dk1"/>
                          </a:solidFill>
                        </a:rPr>
                        <a:t>Sports Science</a:t>
                      </a:r>
                      <a:r>
                        <a:rPr lang="id" sz="800">
                          <a:solidFill>
                            <a:schemeClr val="dk1"/>
                          </a:solidFill>
                        </a:rPr>
                        <a:t> di akademi untuk memantau batasan beban fisik, daya tahan (</a:t>
                      </a:r>
                      <a:r>
                        <a:rPr i="1" lang="id" sz="800">
                          <a:solidFill>
                            <a:schemeClr val="dk1"/>
                          </a:solidFill>
                        </a:rPr>
                        <a:t>stamina</a:t>
                      </a:r>
                      <a:r>
                        <a:rPr lang="id" sz="800">
                          <a:solidFill>
                            <a:schemeClr val="dk1"/>
                          </a:solidFill>
                        </a:rPr>
                        <a:t>), dan kekuatan (</a:t>
                      </a:r>
                      <a:r>
                        <a:rPr i="1" lang="id" sz="800">
                          <a:solidFill>
                            <a:schemeClr val="dk1"/>
                          </a:solidFill>
                        </a:rPr>
                        <a:t>strength</a:t>
                      </a:r>
                      <a:r>
                        <a:rPr lang="id" sz="800">
                          <a:solidFill>
                            <a:schemeClr val="dk1"/>
                          </a:solidFill>
                        </a:rPr>
                        <a:t>) </a:t>
                      </a:r>
                      <a:endParaRPr sz="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Fisik pemain muda terlindungi sejak dini, mencegah penurunan potensi akibat cedera, dan memperpanjang masa karier mereka 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10. Peningkatan Daya Tawar Reputasi 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Indeks Reputasi Internasional Klub (</a:t>
                      </a:r>
                      <a:r>
                        <a:rPr lang="id" sz="80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international_reputation</a:t>
                      </a:r>
                      <a:r>
                        <a:rPr lang="id" sz="800">
                          <a:solidFill>
                            <a:schemeClr val="dk1"/>
                          </a:solidFill>
                        </a:rPr>
                        <a:t>)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Meningkatkan posisi akademi klub ke dalam daftar Top 5 Akademi Terbaik di tingkat regional dalam 3 tahun 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Rutin mengikutsertakan tim akademi ke turnamen internasional bergengsi dan mempublikasikan </a:t>
                      </a:r>
                      <a:r>
                        <a:rPr i="1" lang="id" sz="800">
                          <a:solidFill>
                            <a:schemeClr val="dk1"/>
                          </a:solidFill>
                        </a:rPr>
                        <a:t>success story</a:t>
                      </a:r>
                      <a:r>
                        <a:rPr lang="id" sz="800">
                          <a:solidFill>
                            <a:schemeClr val="dk1"/>
                          </a:solidFill>
                        </a:rPr>
                        <a:t> lulusan akademi ke media global</a:t>
                      </a:r>
                      <a:endParaRPr sz="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Talenta-talenta cilik berbakat dari seluruh penjuru dunia secara sukarela memilih bergabung ke akademi kita dibanding akademi rival 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2" name="Google Shape;17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  <p:pic>
        <p:nvPicPr>
          <p:cNvPr id="173" name="Google Shape;173;p16" title="logopwdk-03_1jg.original.png"/>
          <p:cNvPicPr preferRelativeResize="0"/>
          <p:nvPr/>
        </p:nvPicPr>
        <p:blipFill>
          <a:blip r:embed="rId3">
            <a:alphaModFix amt="49000"/>
          </a:blip>
          <a:stretch>
            <a:fillRect/>
          </a:stretch>
        </p:blipFill>
        <p:spPr>
          <a:xfrm>
            <a:off x="7760250" y="0"/>
            <a:ext cx="1383752" cy="947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7"/>
          <p:cNvSpPr txBox="1"/>
          <p:nvPr>
            <p:ph type="title"/>
          </p:nvPr>
        </p:nvSpPr>
        <p:spPr>
          <a:xfrm>
            <a:off x="1077300" y="137300"/>
            <a:ext cx="7259100" cy="5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Preparation &amp; Advanced Cleansing 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9" name="Google Shape;179;p17"/>
          <p:cNvGrpSpPr/>
          <p:nvPr/>
        </p:nvGrpSpPr>
        <p:grpSpPr>
          <a:xfrm>
            <a:off x="710789" y="1160521"/>
            <a:ext cx="7764570" cy="1131711"/>
            <a:chOff x="710674" y="1323164"/>
            <a:chExt cx="7300959" cy="731836"/>
          </a:xfrm>
        </p:grpSpPr>
        <p:sp>
          <p:nvSpPr>
            <p:cNvPr id="180" name="Google Shape;180;p17"/>
            <p:cNvSpPr txBox="1"/>
            <p:nvPr/>
          </p:nvSpPr>
          <p:spPr>
            <a:xfrm>
              <a:off x="710674" y="1323164"/>
              <a:ext cx="1842000" cy="73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b="1" lang="id" sz="1000">
                  <a:solidFill>
                    <a:schemeClr val="dk1"/>
                  </a:solidFill>
                </a:rPr>
                <a:t>Handling Missing Values (Penanganan Data Kosong)</a:t>
              </a:r>
              <a:endParaRPr sz="4400">
                <a:solidFill>
                  <a:srgbClr val="085630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181" name="Google Shape;181;p17"/>
            <p:cNvSpPr/>
            <p:nvPr/>
          </p:nvSpPr>
          <p:spPr>
            <a:xfrm>
              <a:off x="2552533" y="1323164"/>
              <a:ext cx="5459100" cy="731700"/>
            </a:xfrm>
            <a:prstGeom prst="rect">
              <a:avLst/>
            </a:prstGeom>
            <a:solidFill>
              <a:srgbClr val="0B774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17"/>
            <p:cNvSpPr txBox="1"/>
            <p:nvPr/>
          </p:nvSpPr>
          <p:spPr>
            <a:xfrm>
              <a:off x="2552532" y="1355400"/>
              <a:ext cx="5436000" cy="69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-2921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Char char="●"/>
              </a:pPr>
              <a:r>
                <a:rPr b="1" lang="id" sz="1000">
                  <a:solidFill>
                    <a:schemeClr val="lt1"/>
                  </a:solidFill>
                </a:rPr>
                <a:t>Kolom </a:t>
              </a:r>
              <a:r>
                <a:rPr b="1" i="1" lang="id" sz="1000">
                  <a:solidFill>
                    <a:schemeClr val="lt1"/>
                  </a:solidFill>
                </a:rPr>
                <a:t>release_clause_euro</a:t>
              </a:r>
              <a:r>
                <a:rPr b="1" lang="id" sz="1000">
                  <a:solidFill>
                    <a:schemeClr val="lt1"/>
                  </a:solidFill>
                </a:rPr>
                <a:t>:</a:t>
              </a:r>
              <a:r>
                <a:rPr lang="id" sz="1000">
                  <a:solidFill>
                    <a:schemeClr val="lt1"/>
                  </a:solidFill>
                </a:rPr>
                <a:t> Tidak dihapus, alasannya Pemain yang tidak memiliki nilai klausul rilis berarti kontraknya tidak dikunci oleh klub asal, sehingga bisa dinegosiasikan langsung.</a:t>
              </a:r>
              <a:endParaRPr sz="1000">
                <a:solidFill>
                  <a:schemeClr val="lt1"/>
                </a:solidFill>
              </a:endParaRPr>
            </a:p>
            <a:p>
              <a:pPr indent="-2921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Char char="●"/>
              </a:pPr>
              <a:r>
                <a:rPr b="1" lang="id" sz="1000">
                  <a:solidFill>
                    <a:schemeClr val="lt1"/>
                  </a:solidFill>
                </a:rPr>
                <a:t>Kolom Tim Nasional (</a:t>
              </a:r>
              <a:r>
                <a:rPr b="1" i="1" lang="id" sz="1000">
                  <a:solidFill>
                    <a:schemeClr val="lt1"/>
                  </a:solidFill>
                </a:rPr>
                <a:t>nation_position, nation_jersey_number</a:t>
              </a:r>
              <a:r>
                <a:rPr b="1" lang="id" sz="1000">
                  <a:solidFill>
                    <a:schemeClr val="lt1"/>
                  </a:solidFill>
                </a:rPr>
                <a:t>, dll):</a:t>
              </a:r>
              <a:r>
                <a:rPr lang="id" sz="1000">
                  <a:solidFill>
                    <a:schemeClr val="lt1"/>
                  </a:solidFill>
                </a:rPr>
                <a:t> Sengaja </a:t>
              </a:r>
              <a:r>
                <a:rPr b="1" lang="id" sz="1000">
                  <a:solidFill>
                    <a:schemeClr val="lt1"/>
                  </a:solidFill>
                </a:rPr>
                <a:t>dihapus (</a:t>
              </a:r>
              <a:r>
                <a:rPr b="1" i="1" lang="id" sz="1000">
                  <a:solidFill>
                    <a:schemeClr val="lt1"/>
                  </a:solidFill>
                </a:rPr>
                <a:t>dropped</a:t>
              </a:r>
              <a:r>
                <a:rPr b="1" lang="id" sz="1000">
                  <a:solidFill>
                    <a:schemeClr val="lt1"/>
                  </a:solidFill>
                </a:rPr>
                <a:t>)</a:t>
              </a:r>
              <a:r>
                <a:rPr lang="id" sz="1000">
                  <a:solidFill>
                    <a:schemeClr val="lt1"/>
                  </a:solidFill>
                </a:rPr>
                <a:t> karena memiliki persentase data kosong ekstrem mencapai </a:t>
              </a:r>
              <a:r>
                <a:rPr b="1" lang="id" sz="1000">
                  <a:solidFill>
                    <a:schemeClr val="lt1"/>
                  </a:solidFill>
                </a:rPr>
                <a:t>95%</a:t>
              </a:r>
              <a:r>
                <a:rPr lang="id" sz="1000">
                  <a:solidFill>
                    <a:schemeClr val="lt1"/>
                  </a:solidFill>
                </a:rPr>
                <a:t>. Kolom ini tidak relevan untuk analisis level klub.</a:t>
              </a:r>
              <a:endPara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83" name="Google Shape;183;p17"/>
          <p:cNvGrpSpPr/>
          <p:nvPr/>
        </p:nvGrpSpPr>
        <p:grpSpPr>
          <a:xfrm>
            <a:off x="710675" y="2571799"/>
            <a:ext cx="7776225" cy="858851"/>
            <a:chOff x="0" y="1896192"/>
            <a:chExt cx="7650000" cy="991287"/>
          </a:xfrm>
        </p:grpSpPr>
        <p:sp>
          <p:nvSpPr>
            <p:cNvPr id="184" name="Google Shape;184;p17"/>
            <p:cNvSpPr txBox="1"/>
            <p:nvPr/>
          </p:nvSpPr>
          <p:spPr>
            <a:xfrm>
              <a:off x="0" y="1896221"/>
              <a:ext cx="1890900" cy="99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b="1" lang="id" sz="1000">
                  <a:solidFill>
                    <a:schemeClr val="dk1"/>
                  </a:solidFill>
                </a:rPr>
                <a:t>Data Standardization (Standardisasi Data)</a:t>
              </a:r>
              <a:endParaRPr sz="4400">
                <a:solidFill>
                  <a:srgbClr val="0B713F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185" name="Google Shape;185;p17"/>
            <p:cNvSpPr/>
            <p:nvPr/>
          </p:nvSpPr>
          <p:spPr>
            <a:xfrm>
              <a:off x="1890900" y="1896278"/>
              <a:ext cx="5759100" cy="991200"/>
            </a:xfrm>
            <a:prstGeom prst="rect">
              <a:avLst/>
            </a:prstGeom>
            <a:solidFill>
              <a:srgbClr val="0B774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7"/>
            <p:cNvSpPr txBox="1"/>
            <p:nvPr/>
          </p:nvSpPr>
          <p:spPr>
            <a:xfrm>
              <a:off x="1929144" y="1896192"/>
              <a:ext cx="5596800" cy="99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-2921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Char char="●"/>
              </a:pPr>
              <a:r>
                <a:rPr lang="id" sz="1000">
                  <a:solidFill>
                    <a:schemeClr val="lt1"/>
                  </a:solidFill>
                </a:rPr>
                <a:t>Melakukan pembersihan string/karakter aneh pada nama pemain menggunakan metode </a:t>
              </a:r>
              <a:r>
                <a:rPr i="1" lang="id" sz="1000">
                  <a:solidFill>
                    <a:schemeClr val="lt1"/>
                  </a:solidFill>
                </a:rPr>
                <a:t>.str.strip()</a:t>
              </a:r>
              <a:r>
                <a:rPr lang="id" sz="1000">
                  <a:solidFill>
                    <a:schemeClr val="lt1"/>
                  </a:solidFill>
                </a:rPr>
                <a:t> atau </a:t>
              </a:r>
              <a:r>
                <a:rPr i="1" lang="id" sz="1000">
                  <a:solidFill>
                    <a:schemeClr val="lt1"/>
                  </a:solidFill>
                </a:rPr>
                <a:t>.replace()</a:t>
              </a:r>
              <a:r>
                <a:rPr lang="id" sz="1000">
                  <a:solidFill>
                    <a:schemeClr val="lt1"/>
                  </a:solidFill>
                </a:rPr>
                <a:t>.</a:t>
              </a:r>
              <a:endParaRPr sz="1000">
                <a:solidFill>
                  <a:schemeClr val="lt1"/>
                </a:solidFill>
              </a:endParaRPr>
            </a:p>
            <a:p>
              <a:pPr indent="-2921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Char char="●"/>
              </a:pPr>
              <a:r>
                <a:rPr lang="id" sz="1000">
                  <a:solidFill>
                    <a:schemeClr val="lt1"/>
                  </a:solidFill>
                </a:rPr>
                <a:t>Memastikan tipe data finansial (</a:t>
              </a:r>
              <a:r>
                <a:rPr i="1" lang="id" sz="1000">
                  <a:solidFill>
                    <a:schemeClr val="lt1"/>
                  </a:solidFill>
                </a:rPr>
                <a:t>value_euro, wage_euro</a:t>
              </a:r>
              <a:r>
                <a:rPr lang="id" sz="1000">
                  <a:solidFill>
                    <a:schemeClr val="lt1"/>
                  </a:solidFill>
                </a:rPr>
                <a:t>) dan atribut teknis bertipe numerik (</a:t>
              </a:r>
              <a:r>
                <a:rPr i="1" lang="id" sz="1000">
                  <a:solidFill>
                    <a:schemeClr val="lt1"/>
                  </a:solidFill>
                </a:rPr>
                <a:t>Integer/Float</a:t>
              </a:r>
              <a:r>
                <a:rPr lang="id" sz="1000">
                  <a:solidFill>
                    <a:schemeClr val="lt1"/>
                  </a:solidFill>
                </a:rPr>
                <a:t>) agar bisa diolah secara statistik.</a:t>
              </a:r>
              <a:endPara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87" name="Google Shape;187;p17"/>
          <p:cNvGrpSpPr/>
          <p:nvPr/>
        </p:nvGrpSpPr>
        <p:grpSpPr>
          <a:xfrm>
            <a:off x="722887" y="3796858"/>
            <a:ext cx="7764404" cy="957743"/>
            <a:chOff x="755104" y="2643101"/>
            <a:chExt cx="7300803" cy="1125300"/>
          </a:xfrm>
        </p:grpSpPr>
        <p:sp>
          <p:nvSpPr>
            <p:cNvPr id="188" name="Google Shape;188;p17"/>
            <p:cNvSpPr txBox="1"/>
            <p:nvPr/>
          </p:nvSpPr>
          <p:spPr>
            <a:xfrm>
              <a:off x="755104" y="2643101"/>
              <a:ext cx="1821300" cy="112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b="1" lang="id" sz="1000">
                  <a:solidFill>
                    <a:schemeClr val="dk1"/>
                  </a:solidFill>
                </a:rPr>
                <a:t>Advanced Feature Engineering (Pembuatan Indikator Baru)</a:t>
              </a:r>
              <a:endParaRPr sz="4400">
                <a:solidFill>
                  <a:srgbClr val="0B7743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189" name="Google Shape;189;p17"/>
            <p:cNvSpPr/>
            <p:nvPr/>
          </p:nvSpPr>
          <p:spPr>
            <a:xfrm>
              <a:off x="2576406" y="2643101"/>
              <a:ext cx="5479500" cy="1125300"/>
            </a:xfrm>
            <a:prstGeom prst="rect">
              <a:avLst/>
            </a:prstGeom>
            <a:solidFill>
              <a:srgbClr val="0B774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7"/>
            <p:cNvSpPr txBox="1"/>
            <p:nvPr/>
          </p:nvSpPr>
          <p:spPr>
            <a:xfrm>
              <a:off x="2576407" y="2679377"/>
              <a:ext cx="5479500" cy="108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-2921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Char char="●"/>
              </a:pPr>
              <a:r>
                <a:rPr i="1" lang="id" sz="1000">
                  <a:solidFill>
                    <a:schemeClr val="lt1"/>
                  </a:solidFill>
                </a:rPr>
                <a:t>growth</a:t>
              </a:r>
              <a:r>
                <a:rPr b="1" lang="id" sz="1000">
                  <a:solidFill>
                    <a:schemeClr val="lt1"/>
                  </a:solidFill>
                </a:rPr>
                <a:t> (Potential - Overall):</a:t>
              </a:r>
              <a:r>
                <a:rPr lang="id" sz="1000">
                  <a:solidFill>
                    <a:schemeClr val="lt1"/>
                  </a:solidFill>
                </a:rPr>
                <a:t> Mengukur sisa ruang berkembang pemain mud</a:t>
              </a:r>
              <a:endParaRPr sz="1000">
                <a:solidFill>
                  <a:schemeClr val="lt1"/>
                </a:solidFill>
              </a:endParaRPr>
            </a:p>
            <a:p>
              <a:pPr indent="-2921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Char char="●"/>
              </a:pPr>
              <a:r>
                <a:rPr i="1" lang="id" sz="1000">
                  <a:solidFill>
                    <a:schemeClr val="lt1"/>
                  </a:solidFill>
                </a:rPr>
                <a:t>value_per_ovr</a:t>
              </a:r>
              <a:r>
                <a:rPr b="1" lang="id" sz="1000">
                  <a:solidFill>
                    <a:schemeClr val="lt1"/>
                  </a:solidFill>
                </a:rPr>
                <a:t> (Value ÷ Overall):</a:t>
              </a:r>
              <a:r>
                <a:rPr lang="id" sz="1000">
                  <a:solidFill>
                    <a:schemeClr val="lt1"/>
                  </a:solidFill>
                </a:rPr>
                <a:t> Rasio efisiensi harga per satu poin kualitas pemain.</a:t>
              </a:r>
              <a:endParaRPr sz="1000">
                <a:solidFill>
                  <a:schemeClr val="lt1"/>
                </a:solidFill>
              </a:endParaRPr>
            </a:p>
            <a:p>
              <a:pPr indent="-2921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Char char="●"/>
              </a:pPr>
              <a:r>
                <a:rPr i="1" lang="id" sz="1000">
                  <a:solidFill>
                    <a:schemeClr val="lt1"/>
                  </a:solidFill>
                </a:rPr>
                <a:t>age_category</a:t>
              </a:r>
              <a:r>
                <a:rPr b="1" lang="id" sz="1000">
                  <a:solidFill>
                    <a:schemeClr val="lt1"/>
                  </a:solidFill>
                </a:rPr>
                <a:t>:</a:t>
              </a:r>
              <a:r>
                <a:rPr lang="id" sz="1000">
                  <a:solidFill>
                    <a:schemeClr val="lt1"/>
                  </a:solidFill>
                </a:rPr>
                <a:t> Pengelompokan umur menjadi </a:t>
              </a:r>
              <a:r>
                <a:rPr i="1" lang="id" sz="1000">
                  <a:solidFill>
                    <a:schemeClr val="lt1"/>
                  </a:solidFill>
                </a:rPr>
                <a:t>Wonderkid</a:t>
              </a:r>
              <a:r>
                <a:rPr lang="id" sz="1000">
                  <a:solidFill>
                    <a:schemeClr val="lt1"/>
                  </a:solidFill>
                </a:rPr>
                <a:t> (&lt;21), </a:t>
              </a:r>
              <a:r>
                <a:rPr i="1" lang="id" sz="1000">
                  <a:solidFill>
                    <a:schemeClr val="lt1"/>
                  </a:solidFill>
                </a:rPr>
                <a:t>Golden Age</a:t>
              </a:r>
              <a:r>
                <a:rPr lang="id" sz="1000">
                  <a:solidFill>
                    <a:schemeClr val="lt1"/>
                  </a:solidFill>
                </a:rPr>
                <a:t> (21-29), dan </a:t>
              </a:r>
              <a:r>
                <a:rPr i="1" lang="id" sz="1000">
                  <a:solidFill>
                    <a:schemeClr val="lt1"/>
                  </a:solidFill>
                </a:rPr>
                <a:t>Veteran</a:t>
              </a:r>
              <a:r>
                <a:rPr lang="id" sz="1000">
                  <a:solidFill>
                    <a:schemeClr val="lt1"/>
                  </a:solidFill>
                </a:rPr>
                <a:t> (≥30).</a:t>
              </a:r>
              <a:endPara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91" name="Google Shape;19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  <p:pic>
        <p:nvPicPr>
          <p:cNvPr id="192" name="Google Shape;192;p17" title="logopwdk-03_1jg.original.png"/>
          <p:cNvPicPr preferRelativeResize="0"/>
          <p:nvPr/>
        </p:nvPicPr>
        <p:blipFill>
          <a:blip r:embed="rId3">
            <a:alphaModFix amt="49000"/>
          </a:blip>
          <a:stretch>
            <a:fillRect/>
          </a:stretch>
        </p:blipFill>
        <p:spPr>
          <a:xfrm>
            <a:off x="7760250" y="0"/>
            <a:ext cx="1383752" cy="947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8"/>
          <p:cNvSpPr txBox="1"/>
          <p:nvPr>
            <p:ph type="title"/>
          </p:nvPr>
        </p:nvSpPr>
        <p:spPr>
          <a:xfrm>
            <a:off x="1297500" y="29419"/>
            <a:ext cx="7038900" cy="6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Insight 1</a:t>
            </a:r>
            <a:br>
              <a:rPr lang="id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id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Identifikasi Bakat Berpotensi Tinggi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8" name="Google Shape;198;p18" title="Insight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7987" y="825138"/>
            <a:ext cx="6737925" cy="3994875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  <p:pic>
        <p:nvPicPr>
          <p:cNvPr id="200" name="Google Shape;200;p18" title="logopwdk-03_1jg.original.png"/>
          <p:cNvPicPr preferRelativeResize="0"/>
          <p:nvPr/>
        </p:nvPicPr>
        <p:blipFill>
          <a:blip r:embed="rId4">
            <a:alphaModFix amt="49000"/>
          </a:blip>
          <a:stretch>
            <a:fillRect/>
          </a:stretch>
        </p:blipFill>
        <p:spPr>
          <a:xfrm>
            <a:off x="7981599" y="29425"/>
            <a:ext cx="1162399" cy="79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9"/>
          <p:cNvSpPr txBox="1"/>
          <p:nvPr>
            <p:ph type="title"/>
          </p:nvPr>
        </p:nvSpPr>
        <p:spPr>
          <a:xfrm>
            <a:off x="1297500" y="82997"/>
            <a:ext cx="7038900" cy="71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Insight 2</a:t>
            </a:r>
            <a:br>
              <a:rPr lang="id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id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Efisiensi Anggaran Belanja Pemain Utama</a:t>
            </a:r>
            <a:endParaRPr sz="3000">
              <a:highlight>
                <a:schemeClr val="dk2"/>
              </a:highlight>
            </a:endParaRPr>
          </a:p>
        </p:txBody>
      </p:sp>
      <p:pic>
        <p:nvPicPr>
          <p:cNvPr id="206" name="Google Shape;206;p19" title="Insight 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1625" y="932062"/>
            <a:ext cx="6274999" cy="3963178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  <p:pic>
        <p:nvPicPr>
          <p:cNvPr id="208" name="Google Shape;208;p19" title="logopwdk-03_1jg.original.png"/>
          <p:cNvPicPr preferRelativeResize="0"/>
          <p:nvPr/>
        </p:nvPicPr>
        <p:blipFill>
          <a:blip r:embed="rId4">
            <a:alphaModFix amt="49000"/>
          </a:blip>
          <a:stretch>
            <a:fillRect/>
          </a:stretch>
        </p:blipFill>
        <p:spPr>
          <a:xfrm>
            <a:off x="7981599" y="29425"/>
            <a:ext cx="1162399" cy="79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0"/>
          <p:cNvSpPr txBox="1"/>
          <p:nvPr>
            <p:ph type="title"/>
          </p:nvPr>
        </p:nvSpPr>
        <p:spPr>
          <a:xfrm>
            <a:off x="1297500" y="50850"/>
            <a:ext cx="7038900" cy="62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Insight 3</a:t>
            </a:r>
            <a:br>
              <a:rPr lang="id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id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Akselerasi Kematangan Rating Pemain </a:t>
            </a:r>
            <a:endParaRPr sz="1400"/>
          </a:p>
        </p:txBody>
      </p:sp>
      <p:pic>
        <p:nvPicPr>
          <p:cNvPr id="214" name="Google Shape;214;p20" title="Insight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7439" y="839713"/>
            <a:ext cx="6729124" cy="399777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  <p:pic>
        <p:nvPicPr>
          <p:cNvPr id="216" name="Google Shape;216;p20" title="logopwdk-03_1jg.original.png"/>
          <p:cNvPicPr preferRelativeResize="0"/>
          <p:nvPr/>
        </p:nvPicPr>
        <p:blipFill>
          <a:blip r:embed="rId4">
            <a:alphaModFix amt="49000"/>
          </a:blip>
          <a:stretch>
            <a:fillRect/>
          </a:stretch>
        </p:blipFill>
        <p:spPr>
          <a:xfrm>
            <a:off x="7981599" y="29425"/>
            <a:ext cx="1162399" cy="79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1"/>
          <p:cNvSpPr txBox="1"/>
          <p:nvPr>
            <p:ph type="title"/>
          </p:nvPr>
        </p:nvSpPr>
        <p:spPr>
          <a:xfrm>
            <a:off x="1297500" y="61566"/>
            <a:ext cx="7038900" cy="6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Insight 4</a:t>
            </a:r>
            <a:br>
              <a:rPr lang="id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id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Struktur Gaji Klub yang Sehat &amp; Efisien </a:t>
            </a:r>
            <a:endParaRPr sz="1400"/>
          </a:p>
        </p:txBody>
      </p:sp>
      <p:pic>
        <p:nvPicPr>
          <p:cNvPr id="222" name="Google Shape;222;p21" title="Insight 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9526" y="894725"/>
            <a:ext cx="6604950" cy="3920001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  <p:pic>
        <p:nvPicPr>
          <p:cNvPr id="224" name="Google Shape;224;p21" title="logopwdk-03_1jg.original.png"/>
          <p:cNvPicPr preferRelativeResize="0"/>
          <p:nvPr/>
        </p:nvPicPr>
        <p:blipFill>
          <a:blip r:embed="rId4">
            <a:alphaModFix amt="49000"/>
          </a:blip>
          <a:stretch>
            <a:fillRect/>
          </a:stretch>
        </p:blipFill>
        <p:spPr>
          <a:xfrm>
            <a:off x="7981599" y="29425"/>
            <a:ext cx="1162399" cy="79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2"/>
          <p:cNvSpPr txBox="1"/>
          <p:nvPr>
            <p:ph type="title"/>
          </p:nvPr>
        </p:nvSpPr>
        <p:spPr>
          <a:xfrm>
            <a:off x="1297500" y="93713"/>
            <a:ext cx="7038900" cy="6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Insight 5</a:t>
            </a:r>
            <a:br>
              <a:rPr lang="id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id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Optimalisasi Jam Terbang Riil Bakat </a:t>
            </a:r>
            <a:endParaRPr sz="1400"/>
          </a:p>
        </p:txBody>
      </p:sp>
      <p:pic>
        <p:nvPicPr>
          <p:cNvPr id="230" name="Google Shape;230;p22" title="Insight 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6488" y="808163"/>
            <a:ext cx="7231624" cy="4060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  <p:pic>
        <p:nvPicPr>
          <p:cNvPr id="232" name="Google Shape;232;p22" title="logopwdk-03_1jg.original.png"/>
          <p:cNvPicPr preferRelativeResize="0"/>
          <p:nvPr/>
        </p:nvPicPr>
        <p:blipFill>
          <a:blip r:embed="rId4">
            <a:alphaModFix amt="49000"/>
          </a:blip>
          <a:stretch>
            <a:fillRect/>
          </a:stretch>
        </p:blipFill>
        <p:spPr>
          <a:xfrm>
            <a:off x="7981599" y="29425"/>
            <a:ext cx="1162399" cy="79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3"/>
          <p:cNvSpPr txBox="1"/>
          <p:nvPr>
            <p:ph type="title"/>
          </p:nvPr>
        </p:nvSpPr>
        <p:spPr>
          <a:xfrm>
            <a:off x="1297500" y="104428"/>
            <a:ext cx="7038900" cy="60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Insight 6</a:t>
            </a:r>
            <a:br>
              <a:rPr lang="id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id" sz="15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Menjaga Nilai Pasar Surplus Skuad</a:t>
            </a:r>
            <a:endParaRPr sz="15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3" title="Insight 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6475" y="877550"/>
            <a:ext cx="6619500" cy="393265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  <p:pic>
        <p:nvPicPr>
          <p:cNvPr id="240" name="Google Shape;240;p23" title="logopwdk-03_1jg.original.png"/>
          <p:cNvPicPr preferRelativeResize="0"/>
          <p:nvPr/>
        </p:nvPicPr>
        <p:blipFill>
          <a:blip r:embed="rId4">
            <a:alphaModFix amt="49000"/>
          </a:blip>
          <a:stretch>
            <a:fillRect/>
          </a:stretch>
        </p:blipFill>
        <p:spPr>
          <a:xfrm>
            <a:off x="7981599" y="29425"/>
            <a:ext cx="1162399" cy="79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4"/>
          <p:cNvSpPr txBox="1"/>
          <p:nvPr>
            <p:ph type="title"/>
          </p:nvPr>
        </p:nvSpPr>
        <p:spPr>
          <a:xfrm>
            <a:off x="1297500" y="93713"/>
            <a:ext cx="7038900" cy="68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Insight 7</a:t>
            </a:r>
            <a:br>
              <a:rPr lang="id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id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Maksimalisasi ROI (Return on Investment) Finansial Akademi</a:t>
            </a:r>
            <a:endParaRPr sz="1400"/>
          </a:p>
        </p:txBody>
      </p:sp>
      <p:pic>
        <p:nvPicPr>
          <p:cNvPr id="246" name="Google Shape;246;p24" title="Insight 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8738" y="894862"/>
            <a:ext cx="6676425" cy="3962425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  <p:pic>
        <p:nvPicPr>
          <p:cNvPr id="248" name="Google Shape;248;p24" title="logopwdk-03_1jg.original.png"/>
          <p:cNvPicPr preferRelativeResize="0"/>
          <p:nvPr/>
        </p:nvPicPr>
        <p:blipFill>
          <a:blip r:embed="rId4">
            <a:alphaModFix amt="49000"/>
          </a:blip>
          <a:stretch>
            <a:fillRect/>
          </a:stretch>
        </p:blipFill>
        <p:spPr>
          <a:xfrm>
            <a:off x="7981599" y="29425"/>
            <a:ext cx="1162399" cy="79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5"/>
          <p:cNvSpPr txBox="1"/>
          <p:nvPr>
            <p:ph type="title"/>
          </p:nvPr>
        </p:nvSpPr>
        <p:spPr>
          <a:xfrm>
            <a:off x="1297500" y="93713"/>
            <a:ext cx="7038900" cy="66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Insight 8</a:t>
            </a:r>
            <a:br>
              <a:rPr lang="id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id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Standardisasi Filosofi Taktis</a:t>
            </a:r>
            <a:endParaRPr sz="1400"/>
          </a:p>
        </p:txBody>
      </p:sp>
      <p:pic>
        <p:nvPicPr>
          <p:cNvPr id="254" name="Google Shape;254;p25" title="Insight 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1549" y="912051"/>
            <a:ext cx="6600301" cy="3917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  <p:pic>
        <p:nvPicPr>
          <p:cNvPr id="256" name="Google Shape;256;p25" title="logopwdk-03_1jg.original.png"/>
          <p:cNvPicPr preferRelativeResize="0"/>
          <p:nvPr/>
        </p:nvPicPr>
        <p:blipFill>
          <a:blip r:embed="rId4">
            <a:alphaModFix amt="49000"/>
          </a:blip>
          <a:stretch>
            <a:fillRect/>
          </a:stretch>
        </p:blipFill>
        <p:spPr>
          <a:xfrm>
            <a:off x="7981599" y="29425"/>
            <a:ext cx="1162399" cy="79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6"/>
          <p:cNvSpPr txBox="1"/>
          <p:nvPr>
            <p:ph type="title"/>
          </p:nvPr>
        </p:nvSpPr>
        <p:spPr>
          <a:xfrm>
            <a:off x="1297500" y="82997"/>
            <a:ext cx="7038900" cy="6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Insight 9</a:t>
            </a:r>
            <a:br>
              <a:rPr lang="id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id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Manajemen Risiko Cedera Aset Muda</a:t>
            </a:r>
            <a:endParaRPr sz="1400"/>
          </a:p>
        </p:txBody>
      </p:sp>
      <p:pic>
        <p:nvPicPr>
          <p:cNvPr id="262" name="Google Shape;262;p26" title="Insight 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7575" y="1019535"/>
            <a:ext cx="6717501" cy="3670325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  <p:pic>
        <p:nvPicPr>
          <p:cNvPr id="264" name="Google Shape;264;p26" title="logopwdk-03_1jg.original.png"/>
          <p:cNvPicPr preferRelativeResize="0"/>
          <p:nvPr/>
        </p:nvPicPr>
        <p:blipFill>
          <a:blip r:embed="rId4">
            <a:alphaModFix amt="49000"/>
          </a:blip>
          <a:stretch>
            <a:fillRect/>
          </a:stretch>
        </p:blipFill>
        <p:spPr>
          <a:xfrm>
            <a:off x="7981599" y="29425"/>
            <a:ext cx="1162399" cy="79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7"/>
          <p:cNvSpPr txBox="1"/>
          <p:nvPr>
            <p:ph type="title"/>
          </p:nvPr>
        </p:nvSpPr>
        <p:spPr>
          <a:xfrm>
            <a:off x="1297500" y="93713"/>
            <a:ext cx="7038900" cy="62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Insight 10</a:t>
            </a:r>
            <a:br>
              <a:rPr lang="id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id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Peningkatan Daya Tawar Reputasi </a:t>
            </a:r>
            <a:endParaRPr sz="1400"/>
          </a:p>
        </p:txBody>
      </p:sp>
      <p:pic>
        <p:nvPicPr>
          <p:cNvPr id="270" name="Google Shape;270;p27" title="Insight 1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0363" y="806300"/>
            <a:ext cx="6993176" cy="4079925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  <p:pic>
        <p:nvPicPr>
          <p:cNvPr id="272" name="Google Shape;272;p27" title="logopwdk-03_1jg.original.png"/>
          <p:cNvPicPr preferRelativeResize="0"/>
          <p:nvPr/>
        </p:nvPicPr>
        <p:blipFill>
          <a:blip r:embed="rId4">
            <a:alphaModFix amt="49000"/>
          </a:blip>
          <a:stretch>
            <a:fillRect/>
          </a:stretch>
        </p:blipFill>
        <p:spPr>
          <a:xfrm>
            <a:off x="7981599" y="29425"/>
            <a:ext cx="1162399" cy="79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8"/>
          <p:cNvSpPr txBox="1"/>
          <p:nvPr>
            <p:ph type="title"/>
          </p:nvPr>
        </p:nvSpPr>
        <p:spPr>
          <a:xfrm>
            <a:off x="1297500" y="98150"/>
            <a:ext cx="7038900" cy="54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Validasi Finansial (Kualitas vs Harga)</a:t>
            </a:r>
            <a:endParaRPr b="1"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28"/>
          <p:cNvSpPr txBox="1"/>
          <p:nvPr>
            <p:ph idx="1" type="body"/>
          </p:nvPr>
        </p:nvSpPr>
        <p:spPr>
          <a:xfrm>
            <a:off x="1297500" y="643850"/>
            <a:ext cx="7038900" cy="38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d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Membuktikan secara ilmiah mengapa </a:t>
            </a:r>
            <a:r>
              <a:rPr b="1" lang="id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Target No. 2, 4, dan 7</a:t>
            </a:r>
            <a:r>
              <a:rPr lang="id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 awal tadi sangat krusial (Karena harga pemain bintang melonjak eksponensial, sehingga membuat pemain sendiri lewat akademi adalah jalan keluar paling hemat)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79" name="Google Shape;279;p28" title="Analisis Makro – Validasi Finansial (Kualitas vs Harga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9613" y="1372925"/>
            <a:ext cx="4924774" cy="3105825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  <p:pic>
        <p:nvPicPr>
          <p:cNvPr id="281" name="Google Shape;281;p28" title="logopwdk-03_1jg.original.png"/>
          <p:cNvPicPr preferRelativeResize="0"/>
          <p:nvPr/>
        </p:nvPicPr>
        <p:blipFill>
          <a:blip r:embed="rId4">
            <a:alphaModFix amt="49000"/>
          </a:blip>
          <a:stretch>
            <a:fillRect/>
          </a:stretch>
        </p:blipFill>
        <p:spPr>
          <a:xfrm>
            <a:off x="8069325" y="29425"/>
            <a:ext cx="1074673" cy="7356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9"/>
          <p:cNvSpPr txBox="1"/>
          <p:nvPr>
            <p:ph type="title"/>
          </p:nvPr>
        </p:nvSpPr>
        <p:spPr>
          <a:xfrm>
            <a:off x="1297500" y="58725"/>
            <a:ext cx="7038900" cy="51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Mengunci Faktor Penentu Hubungan</a:t>
            </a:r>
            <a:endParaRPr b="1"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29"/>
          <p:cNvSpPr txBox="1"/>
          <p:nvPr>
            <p:ph idx="1" type="body"/>
          </p:nvPr>
        </p:nvSpPr>
        <p:spPr>
          <a:xfrm>
            <a:off x="1297500" y="571425"/>
            <a:ext cx="7038900" cy="390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d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Memvalidasi </a:t>
            </a:r>
            <a:r>
              <a:rPr b="1" lang="id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Target No. 1, 3, dan 9</a:t>
            </a:r>
            <a:r>
              <a:rPr lang="id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Membuktikan bahwa rating utama (0.63) dan potensi (0.58) mengontrol harga, serta usia berkorelasi negatif dengan sisa potensi (-0.26) 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8" name="Google Shape;288;p29" title="Analisis Multivariat – Mengunci Faktor Penentu Hubungan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5937" y="1091675"/>
            <a:ext cx="4072125" cy="3322649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  <p:pic>
        <p:nvPicPr>
          <p:cNvPr id="290" name="Google Shape;290;p29" title="logopwdk-03_1jg.original.png"/>
          <p:cNvPicPr preferRelativeResize="0"/>
          <p:nvPr/>
        </p:nvPicPr>
        <p:blipFill>
          <a:blip r:embed="rId4">
            <a:alphaModFix amt="49000"/>
          </a:blip>
          <a:stretch>
            <a:fillRect/>
          </a:stretch>
        </p:blipFill>
        <p:spPr>
          <a:xfrm>
            <a:off x="8116275" y="29425"/>
            <a:ext cx="1027727" cy="703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0"/>
          <p:cNvSpPr txBox="1"/>
          <p:nvPr>
            <p:ph type="title"/>
          </p:nvPr>
        </p:nvSpPr>
        <p:spPr>
          <a:xfrm>
            <a:off x="1297500" y="85000"/>
            <a:ext cx="7038900" cy="47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id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Actionable Insight 1 – Implementasi Rekrutmen Bakat Muda</a:t>
            </a:r>
            <a:endParaRPr b="1"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30"/>
          <p:cNvSpPr txBox="1"/>
          <p:nvPr>
            <p:ph idx="1" type="body"/>
          </p:nvPr>
        </p:nvSpPr>
        <p:spPr>
          <a:xfrm>
            <a:off x="1297500" y="558400"/>
            <a:ext cx="7038900" cy="392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Implementasi nyata dari </a:t>
            </a:r>
            <a:r>
              <a:rPr b="1" lang="id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Target No. 1 &amp; 3</a:t>
            </a:r>
            <a:r>
              <a:rPr lang="id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Menunjukkan 15 pemain konkret (seperti S. Sohm dengan </a:t>
            </a:r>
            <a:r>
              <a:rPr i="1" lang="id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growth</a:t>
            </a:r>
            <a:r>
              <a:rPr lang="id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26 poin) yang siap direkrut untuk akademi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7" name="Google Shape;297;p30" title="Actionable Insight 1 – Implementasi Rekrutmen Bakat Muda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0250" y="1162500"/>
            <a:ext cx="6513401" cy="3173025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  <p:pic>
        <p:nvPicPr>
          <p:cNvPr id="299" name="Google Shape;299;p30" title="logopwdk-03_1jg.original.png"/>
          <p:cNvPicPr preferRelativeResize="0"/>
          <p:nvPr/>
        </p:nvPicPr>
        <p:blipFill>
          <a:blip r:embed="rId4">
            <a:alphaModFix amt="49000"/>
          </a:blip>
          <a:stretch>
            <a:fillRect/>
          </a:stretch>
        </p:blipFill>
        <p:spPr>
          <a:xfrm>
            <a:off x="8131950" y="29425"/>
            <a:ext cx="1012050" cy="6928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1"/>
          <p:cNvSpPr txBox="1"/>
          <p:nvPr>
            <p:ph type="title"/>
          </p:nvPr>
        </p:nvSpPr>
        <p:spPr>
          <a:xfrm>
            <a:off x="1297500" y="52175"/>
            <a:ext cx="7038900" cy="48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600">
                <a:solidFill>
                  <a:schemeClr val="dk1"/>
                </a:solidFill>
              </a:rPr>
              <a:t>Actionable Insight 2 – Rekrutmen Taktis &amp; Profiling Atribut</a:t>
            </a:r>
            <a:endParaRPr b="1" sz="1600">
              <a:solidFill>
                <a:schemeClr val="dk1"/>
              </a:solidFill>
            </a:endParaRPr>
          </a:p>
        </p:txBody>
      </p:sp>
      <p:sp>
        <p:nvSpPr>
          <p:cNvPr id="305" name="Google Shape;305;p31"/>
          <p:cNvSpPr txBox="1"/>
          <p:nvPr>
            <p:ph idx="1" type="body"/>
          </p:nvPr>
        </p:nvSpPr>
        <p:spPr>
          <a:xfrm>
            <a:off x="1297500" y="532175"/>
            <a:ext cx="7038900" cy="39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Implementasi nyata dari </a:t>
            </a:r>
            <a:r>
              <a:rPr b="1" lang="id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Target No. 8</a:t>
            </a:r>
            <a:r>
              <a:rPr lang="id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(Standardisasi Filosofi Taktis). Menunjukkan bagaimana data bisa mengklasifikasikan tipe penyerang (Ronaldo vs Messi) agar sesuai dengan taktik klub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6" name="Google Shape;30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0862" y="1096175"/>
            <a:ext cx="5342276" cy="3328224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  <p:pic>
        <p:nvPicPr>
          <p:cNvPr id="308" name="Google Shape;308;p31" title="logopwdk-03_1jg.original.png"/>
          <p:cNvPicPr preferRelativeResize="0"/>
          <p:nvPr/>
        </p:nvPicPr>
        <p:blipFill>
          <a:blip r:embed="rId4">
            <a:alphaModFix amt="49000"/>
          </a:blip>
          <a:stretch>
            <a:fillRect/>
          </a:stretch>
        </p:blipFill>
        <p:spPr>
          <a:xfrm>
            <a:off x="7981599" y="29425"/>
            <a:ext cx="1162399" cy="79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2"/>
          <p:cNvSpPr txBox="1"/>
          <p:nvPr>
            <p:ph type="title"/>
          </p:nvPr>
        </p:nvSpPr>
        <p:spPr>
          <a:xfrm>
            <a:off x="1051200" y="32450"/>
            <a:ext cx="7285200" cy="44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Matriks Eksekusi Taktis Akademi (Poin 1-5) </a:t>
            </a:r>
            <a:endParaRPr b="1"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32"/>
          <p:cNvSpPr txBox="1"/>
          <p:nvPr>
            <p:ph idx="1" type="body"/>
          </p:nvPr>
        </p:nvSpPr>
        <p:spPr>
          <a:xfrm>
            <a:off x="1051050" y="472850"/>
            <a:ext cx="7285200" cy="44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id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Solusi Akhir: Matriks Eksekusi Taktis &amp; Kondisi Ideal (Bagian 1) 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15" name="Google Shape;315;p32"/>
          <p:cNvGraphicFramePr/>
          <p:nvPr/>
        </p:nvGraphicFramePr>
        <p:xfrm>
          <a:off x="1051050" y="913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{ADD83715-1649-43CB-B55C-5A9C24F0DBB3}</a:tableStyleId>
              </a:tblPr>
              <a:tblGrid>
                <a:gridCol w="1565625"/>
                <a:gridCol w="3030450"/>
                <a:gridCol w="2642925"/>
              </a:tblGrid>
              <a:tr h="396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d" sz="1000">
                          <a:solidFill>
                            <a:schemeClr val="dk1"/>
                          </a:solidFill>
                        </a:rPr>
                        <a:t>Goals 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d" sz="1000">
                          <a:solidFill>
                            <a:schemeClr val="dk1"/>
                          </a:solidFill>
                        </a:rPr>
                        <a:t>Action (Tindakan Nyata Berbasis Data) 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d" sz="1000">
                          <a:solidFill>
                            <a:schemeClr val="dk1"/>
                          </a:solidFill>
                        </a:rPr>
                        <a:t>Ideal (Kondisi Akhir yang Diharapkan) 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6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1. Identifikasi Bakat Berpotensi Tinggi 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Menggunakan algoritma Python untuk menyaring pemain luar di bawah usia 18 tahun yang memiliki jarak jauh antara </a:t>
                      </a:r>
                      <a:r>
                        <a:rPr i="1" lang="id" sz="800">
                          <a:solidFill>
                            <a:schemeClr val="dk1"/>
                          </a:solidFill>
                        </a:rPr>
                        <a:t>Overall</a:t>
                      </a:r>
                      <a:r>
                        <a:rPr lang="id" sz="800">
                          <a:solidFill>
                            <a:schemeClr val="dk1"/>
                          </a:solidFill>
                        </a:rPr>
                        <a:t> saat ini dengan </a:t>
                      </a:r>
                      <a:r>
                        <a:rPr i="1" lang="id" sz="800">
                          <a:solidFill>
                            <a:schemeClr val="dk1"/>
                          </a:solidFill>
                        </a:rPr>
                        <a:t>Potential</a:t>
                      </a:r>
                      <a:r>
                        <a:rPr lang="id" sz="800">
                          <a:solidFill>
                            <a:schemeClr val="dk1"/>
                          </a:solidFill>
                        </a:rPr>
                        <a:t>. 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Akademi diisi 100% oleh aset muda yang memiliki garansi kualitas untuk menjadi pemain bintang di masa depan 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3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2. Efisiensi Anggaran Belanja Pemain Utama 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Menghentikan pembelian pemain luar kategori </a:t>
                      </a:r>
                      <a:r>
                        <a:rPr i="1" lang="id" sz="800">
                          <a:solidFill>
                            <a:schemeClr val="dk1"/>
                          </a:solidFill>
                        </a:rPr>
                        <a:t>Golden Age</a:t>
                      </a:r>
                      <a:r>
                        <a:rPr lang="id" sz="800">
                          <a:solidFill>
                            <a:schemeClr val="dk1"/>
                          </a:solidFill>
                        </a:rPr>
                        <a:t> yang </a:t>
                      </a:r>
                      <a:r>
                        <a:rPr i="1" lang="id" sz="800">
                          <a:solidFill>
                            <a:schemeClr val="dk1"/>
                          </a:solidFill>
                        </a:rPr>
                        <a:t>overpriced</a:t>
                      </a:r>
                      <a:r>
                        <a:rPr lang="id" sz="800">
                          <a:solidFill>
                            <a:schemeClr val="dk1"/>
                          </a:solidFill>
                        </a:rPr>
                        <a:t>, lalu mengalihkan dananya untuk pembaruan fasilitas latihan akademi. 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Klub mandiri secara skuad dan terhindar dari risiko kebangkrutan akibat inflasi harga pasar transfer dunia nyata 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1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3. Akselerasi Kematangan Rating Pemain 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Menyusun porsi latihan individu berkala yang fokus pada peningkatan atribut mekanis vital sesuai posisi (misal: </a:t>
                      </a:r>
                      <a:r>
                        <a:rPr i="1" lang="id" sz="800">
                          <a:solidFill>
                            <a:schemeClr val="dk1"/>
                          </a:solidFill>
                        </a:rPr>
                        <a:t>Finishing</a:t>
                      </a:r>
                      <a:r>
                        <a:rPr lang="id" sz="800">
                          <a:solidFill>
                            <a:schemeClr val="dk1"/>
                          </a:solidFill>
                        </a:rPr>
                        <a:t> untuk penyerang) 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Pemain akademi mencapai level elit/matang (</a:t>
                      </a:r>
                      <a:r>
                        <a:rPr i="1" lang="id" sz="800">
                          <a:solidFill>
                            <a:schemeClr val="dk1"/>
                          </a:solidFill>
                        </a:rPr>
                        <a:t>peak performance</a:t>
                      </a:r>
                      <a:r>
                        <a:rPr lang="id" sz="800">
                          <a:solidFill>
                            <a:schemeClr val="dk1"/>
                          </a:solidFill>
                        </a:rPr>
                        <a:t>) lebih cepat sebelum mereka menyentuh usia 23 tahun</a:t>
                      </a:r>
                      <a:endParaRPr sz="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7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4. Struktur Gaji Klub yang Sehat &amp; Efisien 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Menerapkan kebijakan kontrak profesional berjenjang berbasis performa (</a:t>
                      </a:r>
                      <a:r>
                        <a:rPr i="1" lang="id" sz="800">
                          <a:solidFill>
                            <a:schemeClr val="dk1"/>
                          </a:solidFill>
                        </a:rPr>
                        <a:t>performance-based bonus</a:t>
                      </a:r>
                      <a:r>
                        <a:rPr lang="id" sz="800">
                          <a:solidFill>
                            <a:schemeClr val="dk1"/>
                          </a:solidFill>
                        </a:rPr>
                        <a:t>) bagi pemain lulusan akademi yang promosi 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Beban finansial klub tetap aman dan lolos dari jeratan hukum sanksi </a:t>
                      </a:r>
                      <a:r>
                        <a:rPr i="1" lang="id" sz="800">
                          <a:solidFill>
                            <a:schemeClr val="dk1"/>
                          </a:solidFill>
                        </a:rPr>
                        <a:t>Financial Fair Play</a:t>
                      </a:r>
                      <a:r>
                        <a:rPr lang="id" sz="800">
                          <a:solidFill>
                            <a:schemeClr val="dk1"/>
                          </a:solidFill>
                        </a:rPr>
                        <a:t> (FFP)</a:t>
                      </a:r>
                      <a:endParaRPr sz="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1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5. Optimalisasi Jam Terbang Riil Bakat 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Mewajibkan pelatih kepala untuk melakukan rotasi pemain dan memasang minimal 2 pemain akademi saat laga piala domestik 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Pemain muda mendapatkan mental bertanding, pengalaman taktis riil, dan kematangan visi bermain di lapangan 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16" name="Google Shape;316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  <p:pic>
        <p:nvPicPr>
          <p:cNvPr id="317" name="Google Shape;317;p32" title="logopwdk-03_1jg.original.png"/>
          <p:cNvPicPr preferRelativeResize="0"/>
          <p:nvPr/>
        </p:nvPicPr>
        <p:blipFill>
          <a:blip r:embed="rId3">
            <a:alphaModFix amt="49000"/>
          </a:blip>
          <a:stretch>
            <a:fillRect/>
          </a:stretch>
        </p:blipFill>
        <p:spPr>
          <a:xfrm>
            <a:off x="7981599" y="29425"/>
            <a:ext cx="1162399" cy="79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3"/>
          <p:cNvSpPr txBox="1"/>
          <p:nvPr>
            <p:ph type="title"/>
          </p:nvPr>
        </p:nvSpPr>
        <p:spPr>
          <a:xfrm>
            <a:off x="1051050" y="32450"/>
            <a:ext cx="7285500" cy="44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Matriks Eksekusi Taktis Akademi (Poin 6-10)</a:t>
            </a:r>
            <a:endParaRPr b="1"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33"/>
          <p:cNvSpPr txBox="1"/>
          <p:nvPr>
            <p:ph idx="1" type="body"/>
          </p:nvPr>
        </p:nvSpPr>
        <p:spPr>
          <a:xfrm>
            <a:off x="1050900" y="472850"/>
            <a:ext cx="7285500" cy="44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id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Solusi Akhir: Matriks Eksekusi Taktis &amp; Kondisi Ideal (Bagian 2)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24" name="Google Shape;324;p33"/>
          <p:cNvGraphicFramePr/>
          <p:nvPr/>
        </p:nvGraphicFramePr>
        <p:xfrm>
          <a:off x="1051050" y="913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{ADD83715-1649-43CB-B55C-5A9C24F0DBB3}</a:tableStyleId>
              </a:tblPr>
              <a:tblGrid>
                <a:gridCol w="1565625"/>
                <a:gridCol w="3030450"/>
                <a:gridCol w="2642925"/>
              </a:tblGrid>
              <a:tr h="396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d" sz="1000">
                          <a:solidFill>
                            <a:schemeClr val="dk1"/>
                          </a:solidFill>
                        </a:rPr>
                        <a:t>Goals 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d" sz="1000">
                          <a:solidFill>
                            <a:schemeClr val="dk1"/>
                          </a:solidFill>
                        </a:rPr>
                        <a:t>Action (Tindakan Nyata Berbasis Data) 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d" sz="1000">
                          <a:solidFill>
                            <a:schemeClr val="dk1"/>
                          </a:solidFill>
                        </a:rPr>
                        <a:t>Ideal (Kondisi Akhir yang Diharapkan) 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6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6. Menjaga Nilai Pasar Surplus Skuad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Menjalin kerja sama taktis dengan klub kasta kedua atau liga satelit yang memiliki gaya main agresif untuk mematangkan pemain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Atribut fisik dan taktis pemain tetap berkembang tajam, serta nilai pasar (</a:t>
                      </a:r>
                      <a:r>
                        <a:rPr i="1" lang="id" sz="80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value_euro</a:t>
                      </a:r>
                      <a:r>
                        <a:rPr lang="id" sz="800">
                          <a:solidFill>
                            <a:schemeClr val="dk1"/>
                          </a:solidFill>
                        </a:rPr>
                        <a:t>) mereka tidak jatuh akibat menganggur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3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7. Maksimalisasi ROI </a:t>
                      </a:r>
                      <a:r>
                        <a:rPr lang="id" sz="800">
                          <a:solidFill>
                            <a:schemeClr val="dk1"/>
                          </a:solidFill>
                        </a:rPr>
                        <a:t>(Return on Investment) </a:t>
                      </a:r>
                      <a:r>
                        <a:rPr lang="id" sz="800">
                          <a:solidFill>
                            <a:schemeClr val="dk1"/>
                          </a:solidFill>
                        </a:rPr>
                        <a:t>Finansial Akademi</a:t>
                      </a:r>
                      <a:r>
                        <a:rPr lang="id" sz="800">
                          <a:solidFill>
                            <a:schemeClr val="dk1"/>
                          </a:solidFill>
                        </a:rPr>
                        <a:t> 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Menjual pemain akademi yang sudah menyentuh OVR 80+ namun posisinya menumpuk, guna memanfaatkan fenomena lonjakan harga pasar eksponensial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Akademi menjelma menjadi mesin penghasil uang (</a:t>
                      </a:r>
                      <a:r>
                        <a:rPr i="1" lang="id" sz="800">
                          <a:solidFill>
                            <a:schemeClr val="dk1"/>
                          </a:solidFill>
                        </a:rPr>
                        <a:t>revenue generator</a:t>
                      </a:r>
                      <a:r>
                        <a:rPr lang="id" sz="800">
                          <a:solidFill>
                            <a:schemeClr val="dk1"/>
                          </a:solidFill>
                        </a:rPr>
                        <a:t>) mandiri yang mampu mendanai aktivitas bisnis klub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1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8. Standardisasi Filosofi Taktis</a:t>
                      </a:r>
                      <a:r>
                        <a:rPr lang="id" sz="800">
                          <a:solidFill>
                            <a:schemeClr val="dk1"/>
                          </a:solidFill>
                        </a:rPr>
                        <a:t> 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Menerapkan kurikulum bermain dan formasi taktis yang seragam dari level tim akademi U-15 hingga tim senior utama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Pemain muda yang dipromosikan ke tim utama bisa langsung nyetel dengan strategi pelatih tanpa perlu waktu adaptasi</a:t>
                      </a:r>
                      <a:endParaRPr sz="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7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9. Manajemen Risiko Cedera Aset Muda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Membangun unit khusus </a:t>
                      </a:r>
                      <a:r>
                        <a:rPr i="1" lang="id" sz="800">
                          <a:solidFill>
                            <a:schemeClr val="dk1"/>
                          </a:solidFill>
                        </a:rPr>
                        <a:t>Sports Science</a:t>
                      </a:r>
                      <a:r>
                        <a:rPr lang="id" sz="800">
                          <a:solidFill>
                            <a:schemeClr val="dk1"/>
                          </a:solidFill>
                        </a:rPr>
                        <a:t> di akademi untuk memantau batasan beban fisik, daya tahan (</a:t>
                      </a:r>
                      <a:r>
                        <a:rPr i="1" lang="id" sz="800">
                          <a:solidFill>
                            <a:schemeClr val="dk1"/>
                          </a:solidFill>
                        </a:rPr>
                        <a:t>stamina</a:t>
                      </a:r>
                      <a:r>
                        <a:rPr lang="id" sz="800">
                          <a:solidFill>
                            <a:schemeClr val="dk1"/>
                          </a:solidFill>
                        </a:rPr>
                        <a:t>), dan kekuatan (</a:t>
                      </a:r>
                      <a:r>
                        <a:rPr i="1" lang="id" sz="800">
                          <a:solidFill>
                            <a:schemeClr val="dk1"/>
                          </a:solidFill>
                        </a:rPr>
                        <a:t>strength</a:t>
                      </a:r>
                      <a:r>
                        <a:rPr lang="id" sz="800">
                          <a:solidFill>
                            <a:schemeClr val="dk1"/>
                          </a:solidFill>
                        </a:rPr>
                        <a:t>) 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Fisik pemain muda terlindungi sejak dini, mencegah penurunan potensi akibat cedera, dan memperpanjang masa karier mereka. </a:t>
                      </a:r>
                      <a:endParaRPr sz="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1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10. Peningkatan Daya Tawar Reputasi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Rutin mengikutsertakan tim akademi ke turnamen internasional bergengsi dan mempublikasikan </a:t>
                      </a:r>
                      <a:r>
                        <a:rPr i="1" lang="id" sz="800">
                          <a:solidFill>
                            <a:schemeClr val="dk1"/>
                          </a:solidFill>
                        </a:rPr>
                        <a:t>success story</a:t>
                      </a:r>
                      <a:r>
                        <a:rPr lang="id" sz="800">
                          <a:solidFill>
                            <a:schemeClr val="dk1"/>
                          </a:solidFill>
                        </a:rPr>
                        <a:t> lulusan akademi ke media global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Talenta-talenta cilik berbakat dari seluruh penjuru dunia secara sukarela memilih bergabung ke akademi kita dibanding akademi rival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25" name="Google Shape;325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  <p:pic>
        <p:nvPicPr>
          <p:cNvPr id="326" name="Google Shape;326;p33" title="logopwdk-03_1jg.original.png"/>
          <p:cNvPicPr preferRelativeResize="0"/>
          <p:nvPr/>
        </p:nvPicPr>
        <p:blipFill>
          <a:blip r:embed="rId3">
            <a:alphaModFix amt="49000"/>
          </a:blip>
          <a:stretch>
            <a:fillRect/>
          </a:stretch>
        </p:blipFill>
        <p:spPr>
          <a:xfrm>
            <a:off x="7981599" y="29425"/>
            <a:ext cx="1162399" cy="79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4"/>
          <p:cNvSpPr txBox="1"/>
          <p:nvPr>
            <p:ph type="title"/>
          </p:nvPr>
        </p:nvSpPr>
        <p:spPr>
          <a:xfrm>
            <a:off x="1037900" y="39025"/>
            <a:ext cx="7449300" cy="5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Visualisasi Power Bi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2" name="Google Shape;332;p34" title="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5138" y="635000"/>
            <a:ext cx="6934825" cy="387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  <p:pic>
        <p:nvPicPr>
          <p:cNvPr id="334" name="Google Shape;334;p34" title="logopwdk-03_1jg.original.png"/>
          <p:cNvPicPr preferRelativeResize="0"/>
          <p:nvPr/>
        </p:nvPicPr>
        <p:blipFill>
          <a:blip r:embed="rId4">
            <a:alphaModFix amt="49000"/>
          </a:blip>
          <a:stretch>
            <a:fillRect/>
          </a:stretch>
        </p:blipFill>
        <p:spPr>
          <a:xfrm>
            <a:off x="8229975" y="29425"/>
            <a:ext cx="914028" cy="62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5"/>
          <p:cNvSpPr txBox="1"/>
          <p:nvPr>
            <p:ph type="title"/>
          </p:nvPr>
        </p:nvSpPr>
        <p:spPr>
          <a:xfrm>
            <a:off x="1037900" y="39025"/>
            <a:ext cx="7449300" cy="5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Visualisasi Power Bi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0" name="Google Shape;340;p35" title="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7038" y="640912"/>
            <a:ext cx="6889925" cy="3861675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  <p:pic>
        <p:nvPicPr>
          <p:cNvPr id="342" name="Google Shape;342;p35" title="logopwdk-03_1jg.original.png"/>
          <p:cNvPicPr preferRelativeResize="0"/>
          <p:nvPr/>
        </p:nvPicPr>
        <p:blipFill>
          <a:blip r:embed="rId4">
            <a:alphaModFix amt="49000"/>
          </a:blip>
          <a:stretch>
            <a:fillRect/>
          </a:stretch>
        </p:blipFill>
        <p:spPr>
          <a:xfrm>
            <a:off x="8016950" y="29425"/>
            <a:ext cx="1127050" cy="7715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6"/>
          <p:cNvSpPr txBox="1"/>
          <p:nvPr>
            <p:ph type="title"/>
          </p:nvPr>
        </p:nvSpPr>
        <p:spPr>
          <a:xfrm>
            <a:off x="1037900" y="39025"/>
            <a:ext cx="7449300" cy="5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Visualisasi Power Bi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8" name="Google Shape;348;p36" title="3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1688" y="637912"/>
            <a:ext cx="6900626" cy="3867674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  <p:pic>
        <p:nvPicPr>
          <p:cNvPr id="350" name="Google Shape;350;p36" title="logopwdk-03_1jg.original.png"/>
          <p:cNvPicPr preferRelativeResize="0"/>
          <p:nvPr/>
        </p:nvPicPr>
        <p:blipFill>
          <a:blip r:embed="rId4">
            <a:alphaModFix amt="49000"/>
          </a:blip>
          <a:stretch>
            <a:fillRect/>
          </a:stretch>
        </p:blipFill>
        <p:spPr>
          <a:xfrm>
            <a:off x="8022325" y="29425"/>
            <a:ext cx="1121674" cy="7678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7"/>
          <p:cNvSpPr txBox="1"/>
          <p:nvPr>
            <p:ph type="title"/>
          </p:nvPr>
        </p:nvSpPr>
        <p:spPr>
          <a:xfrm>
            <a:off x="1037900" y="39025"/>
            <a:ext cx="7449300" cy="5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Visualisasi Power Bi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6" name="Google Shape;356;p37" title="WhatsApp Image 2026-06-08 at 20.12.20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4640" y="863491"/>
            <a:ext cx="6075825" cy="3416524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  <p:pic>
        <p:nvPicPr>
          <p:cNvPr id="358" name="Google Shape;358;p37" title="logopwdk-03_1jg.original.png"/>
          <p:cNvPicPr preferRelativeResize="0"/>
          <p:nvPr/>
        </p:nvPicPr>
        <p:blipFill>
          <a:blip r:embed="rId4">
            <a:alphaModFix amt="49000"/>
          </a:blip>
          <a:stretch>
            <a:fillRect/>
          </a:stretch>
        </p:blipFill>
        <p:spPr>
          <a:xfrm>
            <a:off x="7981599" y="29425"/>
            <a:ext cx="1162399" cy="79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8"/>
          <p:cNvSpPr txBox="1"/>
          <p:nvPr>
            <p:ph type="title"/>
          </p:nvPr>
        </p:nvSpPr>
        <p:spPr>
          <a:xfrm>
            <a:off x="1037900" y="39025"/>
            <a:ext cx="7449300" cy="5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Kesimpulan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64" name="Google Shape;364;p38"/>
          <p:cNvGraphicFramePr/>
          <p:nvPr/>
        </p:nvGraphicFramePr>
        <p:xfrm>
          <a:off x="1037900" y="558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{ADD83715-1649-43CB-B55C-5A9C24F0DBB3}</a:tableStyleId>
              </a:tblPr>
              <a:tblGrid>
                <a:gridCol w="4005525"/>
                <a:gridCol w="2873950"/>
              </a:tblGrid>
              <a:tr h="2873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d" sz="1000">
                          <a:solidFill>
                            <a:schemeClr val="dk1"/>
                          </a:solidFill>
                        </a:rPr>
                        <a:t>Kesimpulan &amp; Solusi Strategis Skuad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b="1" lang="id" sz="1000">
                          <a:solidFill>
                            <a:schemeClr val="dk1"/>
                          </a:solidFill>
                        </a:rPr>
                        <a:t>Validasi Finansial:</a:t>
                      </a:r>
                      <a:r>
                        <a:rPr lang="id" sz="1000">
                          <a:solidFill>
                            <a:schemeClr val="dk1"/>
                          </a:solidFill>
                        </a:rPr>
                        <a:t> Data korelasi </a:t>
                      </a:r>
                      <a:r>
                        <a:rPr b="1" lang="id" sz="1000">
                          <a:solidFill>
                            <a:schemeClr val="dk1"/>
                          </a:solidFill>
                        </a:rPr>
                        <a:t>0.86</a:t>
                      </a:r>
                      <a:r>
                        <a:rPr lang="id" sz="1000">
                          <a:solidFill>
                            <a:schemeClr val="dk1"/>
                          </a:solidFill>
                        </a:rPr>
                        <a:t> membuktikan rekrutmen pemain matang dari luar selalu membebani struktur gaji klub dalam jangka panjang.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b="1" lang="id" sz="1000">
                          <a:solidFill>
                            <a:schemeClr val="dk1"/>
                          </a:solidFill>
                        </a:rPr>
                        <a:t>Investasi Usia Dini:</a:t>
                      </a:r>
                      <a:r>
                        <a:rPr lang="id" sz="1000">
                          <a:solidFill>
                            <a:schemeClr val="dk1"/>
                          </a:solidFill>
                        </a:rPr>
                        <a:t> Korelasi negatif antara usia dan potensi (</a:t>
                      </a:r>
                      <a:r>
                        <a:rPr b="1" lang="id" sz="1000">
                          <a:solidFill>
                            <a:schemeClr val="dk1"/>
                          </a:solidFill>
                        </a:rPr>
                        <a:t>-0.26</a:t>
                      </a:r>
                      <a:r>
                        <a:rPr lang="id" sz="1000">
                          <a:solidFill>
                            <a:schemeClr val="dk1"/>
                          </a:solidFill>
                        </a:rPr>
                        <a:t>) menegaskan bahwa ruang pertumbuhan terbesar hanya ada pada pemain akademi.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b="1" lang="id" sz="1000">
                          <a:solidFill>
                            <a:schemeClr val="dk1"/>
                          </a:solidFill>
                        </a:rPr>
                        <a:t>Efisiensi Rekrutmen:</a:t>
                      </a:r>
                      <a:r>
                        <a:rPr lang="id" sz="1000">
                          <a:solidFill>
                            <a:schemeClr val="dk1"/>
                          </a:solidFill>
                        </a:rPr>
                        <a:t> Pemanfaatan metrik buatan </a:t>
                      </a:r>
                      <a:r>
                        <a:rPr i="1" lang="id" sz="100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growth</a:t>
                      </a:r>
                      <a:r>
                        <a:rPr lang="id" sz="1000">
                          <a:solidFill>
                            <a:schemeClr val="dk1"/>
                          </a:solidFill>
                        </a:rPr>
                        <a:t> dan rasio </a:t>
                      </a:r>
                      <a:r>
                        <a:rPr i="1" lang="id" sz="100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value_per_ovr</a:t>
                      </a:r>
                      <a:r>
                        <a:rPr lang="id" sz="1000">
                          <a:solidFill>
                            <a:schemeClr val="dk1"/>
                          </a:solidFill>
                        </a:rPr>
                        <a:t> berhasil memangkas bias intuisi dalam menyaring bakat potensial.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b="1" lang="id" sz="1000">
                          <a:solidFill>
                            <a:schemeClr val="dk1"/>
                          </a:solidFill>
                        </a:rPr>
                        <a:t>Blueprint Operasional:</a:t>
                      </a:r>
                      <a:r>
                        <a:rPr lang="id" sz="1000">
                          <a:solidFill>
                            <a:schemeClr val="dk1"/>
                          </a:solidFill>
                        </a:rPr>
                        <a:t> 10 Matriks Strategi yang dihasilkan siap menjadi kompas manajemen untuk menjaga kesehatan keuangan dan prestasi klub.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65" name="Google Shape;365;p38"/>
          <p:cNvSpPr txBox="1"/>
          <p:nvPr>
            <p:ph idx="1" type="body"/>
          </p:nvPr>
        </p:nvSpPr>
        <p:spPr>
          <a:xfrm>
            <a:off x="1037900" y="3931525"/>
            <a:ext cx="7449300" cy="6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Terima Kasih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id" sz="89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arifhanifan22@gmail.com</a:t>
            </a:r>
            <a:endParaRPr i="1" sz="892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  <p:pic>
        <p:nvPicPr>
          <p:cNvPr id="367" name="Google Shape;367;p38" title="logopwdk-03_1jg.original.png"/>
          <p:cNvPicPr preferRelativeResize="0"/>
          <p:nvPr/>
        </p:nvPicPr>
        <p:blipFill>
          <a:blip r:embed="rId3">
            <a:alphaModFix amt="49000"/>
          </a:blip>
          <a:stretch>
            <a:fillRect/>
          </a:stretch>
        </p:blipFill>
        <p:spPr>
          <a:xfrm>
            <a:off x="5043425" y="558325"/>
            <a:ext cx="2873948" cy="28739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