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  <p:embeddedFont>
      <p:font typeface="Roboto Medium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  <p:embeddedFont>
      <p:font typeface="Roboto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9472646-5AF6-4446-9742-03D57DCBA68D}">
  <a:tblStyle styleId="{89472646-5AF6-4446-9742-03D57DCBA6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obotoMedium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Medium-italic.fntdata"/><Relationship Id="rId25" Type="http://schemas.openxmlformats.org/officeDocument/2006/relationships/font" Target="fonts/RobotoMedium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Roboto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5.xml"/><Relationship Id="rId33" Type="http://schemas.openxmlformats.org/officeDocument/2006/relationships/font" Target="fonts/Lato-bold.fntdata"/><Relationship Id="rId10" Type="http://schemas.openxmlformats.org/officeDocument/2006/relationships/slide" Target="slides/slide4.xml"/><Relationship Id="rId32" Type="http://schemas.openxmlformats.org/officeDocument/2006/relationships/font" Target="fonts/Lato-regular.fntdata"/><Relationship Id="rId13" Type="http://schemas.openxmlformats.org/officeDocument/2006/relationships/slide" Target="slides/slide7.xml"/><Relationship Id="rId35" Type="http://schemas.openxmlformats.org/officeDocument/2006/relationships/font" Target="fonts/Lato-boldItalic.fntdata"/><Relationship Id="rId12" Type="http://schemas.openxmlformats.org/officeDocument/2006/relationships/slide" Target="slides/slide6.xml"/><Relationship Id="rId34" Type="http://schemas.openxmlformats.org/officeDocument/2006/relationships/font" Target="fonts/Lato-italic.fntdata"/><Relationship Id="rId15" Type="http://schemas.openxmlformats.org/officeDocument/2006/relationships/slide" Target="slides/slide9.xml"/><Relationship Id="rId37" Type="http://schemas.openxmlformats.org/officeDocument/2006/relationships/font" Target="fonts/RobotoMono-bold.fntdata"/><Relationship Id="rId14" Type="http://schemas.openxmlformats.org/officeDocument/2006/relationships/slide" Target="slides/slide8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Mon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a1dbc53c1_0_1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ea1dbc53c1_0_1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a1dbc53c1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a1dbc53c1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a1dbc53c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a1dbc53c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a1dbc53c1_0_1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a1dbc53c1_0_1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a1dbc53c1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ea1dbc53c1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ea1dbc53c1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ea1dbc53c1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a1dbc53c1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ea1dbc53c1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a1dbc53c1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ea1dbc53c1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a1dbc53c1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a1dbc53c1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ea1dbc53c1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ea1dbc53c1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a5f071c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a5f071c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a1dbc53c1_0_1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ea1dbc53c1_0_1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Data-Driven Football Analytics: Mengoptimalkan Efisiensi Finansial dan Strategi Taktis Klub Menggunakan FIFA Players Dataset </a:t>
            </a:r>
            <a:endParaRPr b="1"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id" sz="1018">
                <a:latin typeface="Arial"/>
                <a:ea typeface="Arial"/>
                <a:cs typeface="Arial"/>
                <a:sym typeface="Arial"/>
              </a:rPr>
              <a:t>Pendekatan </a:t>
            </a:r>
            <a:r>
              <a:rPr i="1" lang="id" sz="1018">
                <a:latin typeface="Arial"/>
                <a:ea typeface="Arial"/>
                <a:cs typeface="Arial"/>
                <a:sym typeface="Arial"/>
              </a:rPr>
              <a:t>Data Analytics</a:t>
            </a:r>
            <a:r>
              <a:rPr lang="id" sz="1018">
                <a:latin typeface="Arial"/>
                <a:ea typeface="Arial"/>
                <a:cs typeface="Arial"/>
                <a:sym typeface="Arial"/>
              </a:rPr>
              <a:t> untuk Keputusan Investasi Pemain Muda dan Rekrutmen Skuad Cerdas </a:t>
            </a:r>
            <a:endParaRPr sz="1018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01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5083950" y="43753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000">
                <a:solidFill>
                  <a:schemeClr val="lt1"/>
                </a:solidFill>
              </a:rPr>
              <a:t>Arif Hanifan</a:t>
            </a:r>
            <a:endParaRPr b="1"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294152" y="486675"/>
            <a:ext cx="8433300" cy="5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Latar Belakang &amp; Masalah</a:t>
            </a:r>
            <a:r>
              <a:rPr lang="id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" name="Google Shape;142;p14"/>
          <p:cNvGrpSpPr/>
          <p:nvPr/>
        </p:nvGrpSpPr>
        <p:grpSpPr>
          <a:xfrm>
            <a:off x="5612245" y="1437501"/>
            <a:ext cx="3115639" cy="2976546"/>
            <a:chOff x="5616481" y="1206023"/>
            <a:chExt cx="3313805" cy="3021260"/>
          </a:xfrm>
        </p:grpSpPr>
        <p:sp>
          <p:nvSpPr>
            <p:cNvPr id="143" name="Google Shape;143;p14"/>
            <p:cNvSpPr/>
            <p:nvPr/>
          </p:nvSpPr>
          <p:spPr>
            <a:xfrm>
              <a:off x="5616481" y="1206023"/>
              <a:ext cx="3313800" cy="669000"/>
            </a:xfrm>
            <a:prstGeom prst="chevron">
              <a:avLst>
                <a:gd fmla="val 50000" name="adj"/>
              </a:avLst>
            </a:prstGeom>
            <a:solidFill>
              <a:srgbClr val="0B7743"/>
            </a:solidFill>
            <a:ln>
              <a:noFill/>
            </a:ln>
          </p:spPr>
          <p:txBody>
            <a:bodyPr anchorCtr="0" anchor="ctr" bIns="80550" lIns="80550" spcFirstLastPara="1" rIns="80550" wrap="square" tIns="805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id" sz="1100">
                  <a:solidFill>
                    <a:schemeClr val="lt1"/>
                  </a:solidFill>
                </a:rPr>
                <a:t>Solusi &amp; Pendekatan Data (The Objective)</a:t>
              </a:r>
              <a:endParaRPr sz="12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" name="Google Shape;144;p14"/>
            <p:cNvSpPr txBox="1"/>
            <p:nvPr/>
          </p:nvSpPr>
          <p:spPr>
            <a:xfrm>
              <a:off x="5616485" y="1858783"/>
              <a:ext cx="3313800" cy="236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550" lIns="80550" spcFirstLastPara="1" rIns="80550" wrap="square" tIns="80550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id" sz="1100">
                  <a:solidFill>
                    <a:schemeClr val="dk1"/>
                  </a:solidFill>
                </a:rPr>
                <a:t>Mentransformasi data mentah atribut pemain (FIFA Dataset) menjadi instrumen keputusan rekrutmen taktis cerdas.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lang="id" sz="1100">
                  <a:solidFill>
                    <a:schemeClr val="dk1"/>
                  </a:solidFill>
                </a:rPr>
                <a:t>Menggeser fokus belanja ke </a:t>
              </a:r>
              <a:r>
                <a:rPr b="1" lang="id" sz="1100">
                  <a:solidFill>
                    <a:schemeClr val="dk1"/>
                  </a:solidFill>
                </a:rPr>
                <a:t>Pembinaan Usia Dini &amp; Pembangunan Akademi</a:t>
              </a:r>
              <a:r>
                <a:rPr lang="id" sz="1100">
                  <a:solidFill>
                    <a:schemeClr val="dk1"/>
                  </a:solidFill>
                </a:rPr>
                <a:t> sebagai investasi efisien dengan </a:t>
              </a:r>
              <a:r>
                <a:rPr i="1" lang="id" sz="1100">
                  <a:solidFill>
                    <a:schemeClr val="dk1"/>
                  </a:solidFill>
                </a:rPr>
                <a:t>Return on Investment</a:t>
              </a:r>
              <a:r>
                <a:rPr lang="id" sz="1100">
                  <a:solidFill>
                    <a:schemeClr val="dk1"/>
                  </a:solidFill>
                </a:rPr>
                <a:t> (ROI) tertinggi.</a:t>
              </a:r>
              <a:endParaRPr sz="1057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5" name="Google Shape;145;p14"/>
          <p:cNvGrpSpPr/>
          <p:nvPr/>
        </p:nvGrpSpPr>
        <p:grpSpPr>
          <a:xfrm>
            <a:off x="294150" y="1437704"/>
            <a:ext cx="2790558" cy="3067433"/>
            <a:chOff x="0" y="1189983"/>
            <a:chExt cx="3474300" cy="3482553"/>
          </a:xfrm>
        </p:grpSpPr>
        <p:sp>
          <p:nvSpPr>
            <p:cNvPr id="146" name="Google Shape;146;p14"/>
            <p:cNvSpPr/>
            <p:nvPr/>
          </p:nvSpPr>
          <p:spPr>
            <a:xfrm>
              <a:off x="0" y="1189983"/>
              <a:ext cx="3474300" cy="745800"/>
            </a:xfrm>
            <a:prstGeom prst="homePlate">
              <a:avLst>
                <a:gd fmla="val 50000" name="adj"/>
              </a:avLst>
            </a:prstGeom>
            <a:solidFill>
              <a:srgbClr val="085630"/>
            </a:solidFill>
            <a:ln>
              <a:noFill/>
            </a:ln>
          </p:spPr>
          <p:txBody>
            <a:bodyPr anchorCtr="0" anchor="ctr" bIns="80550" lIns="80550" spcFirstLastPara="1" rIns="80550" wrap="square" tIns="8055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id" sz="1100">
                  <a:solidFill>
                    <a:schemeClr val="lt1"/>
                  </a:solidFill>
                </a:rPr>
                <a:t>Latar Belakang Industri (The Context)</a:t>
              </a:r>
              <a:endParaRPr sz="12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" name="Google Shape;147;p14"/>
            <p:cNvSpPr txBox="1"/>
            <p:nvPr/>
          </p:nvSpPr>
          <p:spPr>
            <a:xfrm>
              <a:off x="0" y="1935636"/>
              <a:ext cx="3474300" cy="273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550" lIns="80550" spcFirstLastPara="1" rIns="80550" wrap="square" tIns="80550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b="1" lang="id" sz="1100">
                  <a:solidFill>
                    <a:schemeClr val="dk1"/>
                  </a:solidFill>
                </a:rPr>
                <a:t>Hiper-Inflasi Pasar Transfer:</a:t>
              </a:r>
              <a:r>
                <a:rPr lang="id" sz="1100">
                  <a:solidFill>
                    <a:schemeClr val="dk1"/>
                  </a:solidFill>
                </a:rPr>
                <a:t> Harga pasar pemain bintang di era modern melonjak sangat ekstrem secara eksponensial.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b="1" lang="id" sz="1100">
                  <a:solidFill>
                    <a:schemeClr val="dk1"/>
                  </a:solidFill>
                </a:rPr>
                <a:t>Beban Finansial Klub:</a:t>
              </a:r>
              <a:r>
                <a:rPr lang="id" sz="1100">
                  <a:solidFill>
                    <a:schemeClr val="dk1"/>
                  </a:solidFill>
                </a:rPr>
                <a:t> Gaji mingguan pemain elit (wage_euro) yang bengkak mengancam stabilitas keuangan klub dan meningkatkan risiko sanksi </a:t>
              </a:r>
              <a:r>
                <a:rPr i="1" lang="id" sz="1100">
                  <a:solidFill>
                    <a:schemeClr val="dk1"/>
                  </a:solidFill>
                </a:rPr>
                <a:t>Financial Fair Play</a:t>
              </a:r>
              <a:r>
                <a:rPr lang="id" sz="1100">
                  <a:solidFill>
                    <a:schemeClr val="dk1"/>
                  </a:solidFill>
                </a:rPr>
                <a:t> (FFP)</a:t>
              </a:r>
              <a:endParaRPr sz="1057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8" name="Google Shape;148;p14"/>
          <p:cNvGrpSpPr/>
          <p:nvPr/>
        </p:nvGrpSpPr>
        <p:grpSpPr>
          <a:xfrm>
            <a:off x="3084638" y="1437479"/>
            <a:ext cx="2527599" cy="3068061"/>
            <a:chOff x="2944197" y="1189780"/>
            <a:chExt cx="3548503" cy="3483266"/>
          </a:xfrm>
        </p:grpSpPr>
        <p:sp>
          <p:nvSpPr>
            <p:cNvPr id="149" name="Google Shape;149;p14"/>
            <p:cNvSpPr/>
            <p:nvPr/>
          </p:nvSpPr>
          <p:spPr>
            <a:xfrm>
              <a:off x="2944197" y="1189780"/>
              <a:ext cx="3548100" cy="745800"/>
            </a:xfrm>
            <a:prstGeom prst="chevron">
              <a:avLst>
                <a:gd fmla="val 50000" name="adj"/>
              </a:avLst>
            </a:prstGeom>
            <a:solidFill>
              <a:srgbClr val="0B713F"/>
            </a:solidFill>
            <a:ln>
              <a:noFill/>
            </a:ln>
          </p:spPr>
          <p:txBody>
            <a:bodyPr anchorCtr="0" anchor="ctr" bIns="80550" lIns="80550" spcFirstLastPara="1" rIns="80550" wrap="square" tIns="8055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b="1" lang="id" sz="1100">
                  <a:solidFill>
                    <a:schemeClr val="lt1"/>
                  </a:solidFill>
                </a:rPr>
                <a:t>Rumusan Masalah (The Challenge)</a:t>
              </a:r>
              <a:endParaRPr sz="1233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0" name="Google Shape;150;p14"/>
            <p:cNvSpPr txBox="1"/>
            <p:nvPr/>
          </p:nvSpPr>
          <p:spPr>
            <a:xfrm>
              <a:off x="2944600" y="1935546"/>
              <a:ext cx="3548100" cy="27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550" lIns="80550" spcFirstLastPara="1" rIns="80550" wrap="square" tIns="80550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i="1" lang="id" sz="1100">
                  <a:solidFill>
                    <a:schemeClr val="dk1"/>
                  </a:solidFill>
                </a:rPr>
                <a:t>Bagaimana klub dengan anggaran terbatas tetap bisa kompetitif secara prestasi tanpa mengalami kebangkrutan finansial?</a:t>
              </a:r>
              <a:endParaRPr i="1"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Char char="●"/>
              </a:pPr>
              <a:r>
                <a:rPr i="1" lang="id" sz="1100">
                  <a:solidFill>
                    <a:schemeClr val="dk1"/>
                  </a:solidFill>
                </a:rPr>
                <a:t>Bagaimana meminimalkan bias intuisi tradisional dalam pemanduan bakat (scouting) agar investasi pemain tidak gagal?</a:t>
              </a:r>
              <a:endParaRPr sz="1057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type="title"/>
          </p:nvPr>
        </p:nvSpPr>
        <p:spPr>
          <a:xfrm>
            <a:off x="1272075" y="115900"/>
            <a:ext cx="7436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Summary: 10 Target Strategis Pengembangan Akademi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/>
          <p:cNvSpPr txBox="1"/>
          <p:nvPr>
            <p:ph idx="1" type="body"/>
          </p:nvPr>
        </p:nvSpPr>
        <p:spPr>
          <a:xfrm>
            <a:off x="1272075" y="434625"/>
            <a:ext cx="7604400" cy="4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d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Summary: Matriks Strategi Pengembangan Akademi (Poin 1-5)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7" name="Google Shape;157;p15"/>
          <p:cNvGraphicFramePr/>
          <p:nvPr/>
        </p:nvGraphicFramePr>
        <p:xfrm>
          <a:off x="135200" y="100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{89472646-5AF6-4446-9742-03D57DCBA68D}</a:tableStyleId>
              </a:tblPr>
              <a:tblGrid>
                <a:gridCol w="1397950"/>
                <a:gridCol w="1433575"/>
                <a:gridCol w="1761275"/>
                <a:gridCol w="2096100"/>
                <a:gridCol w="2188725"/>
              </a:tblGrid>
              <a:tr h="335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Goals 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Key Metric 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Target 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Action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Ideal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1. Identifikasi Bakat Berpotensi Tinggi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Rata-rata nilai potensi pertumbuhan (</a:t>
                      </a:r>
                      <a:r>
                        <a:rPr lang="id" sz="8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growth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pemain akademi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Setiap pemain baru akademi wajib memiliki proyeksi growth &gt; 15 poin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Menggunakan algoritma Python untuk menyaring pemain luar di bawah usia 18 tahun yang memiliki jarak jauh antara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Overall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saat ini dengan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Potential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Akademi diisi 100% oleh aset muda yang memiliki garansi kualitas untuk menjadi pemain bintang di masa depan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2. Efisiensi Anggaran Belanja Pemain Utama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Rasio Belanja Transfer Tim Utama vs Biaya Operasional Akademi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Alokasi anggaran operasional akademi dinaikkan hingga 15% dari total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budget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klub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Menghentikan pembelian pemain luar kategori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Golden Age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yang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overpriced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, lalu mengalihkan dananya untuk pembaruan fasilitas latihan akademi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Klub mandiri secara skuad dan terhindar dari risiko kebangkrutan akibat inflasi harga pasar transfer dunia nyata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3. Akselerasi Kematangan Rating Pemain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Kenaikan poin rata-rata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Overall Rating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per musim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Pemain akademi usia &lt; 21 tahun wajib naik minimal +3 hingga +5 poin OVR setiap musimnya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Menyusun porsi latihan individu berkala yang fokus pada peningkatan atribut mekanis vital sesuai posisi (misal: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Finishing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untuk penyerang)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Pemain akademi mencapai level elit/matang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peak performance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lebih cepat sebelum mereka menyentuh usia 23 tahun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4. Struktur Gaji Klub yang Sehat &amp; Efisien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Rasio beban gaji (</a:t>
                      </a:r>
                      <a:r>
                        <a:rPr lang="id" sz="8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wage_euro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pemain akademi vs total pengeluaran gaji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Menghemat total pengeluaran gaji klub hingga 25% dengan mengisi bangku cadangan menggunakan pemain akademi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Menerapkan kebijakan kontrak profesional berjenjang berbasis performa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performance-based bonus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bagi pemain lulusan akademi yang promosi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Beban finansial klub tetap aman dan lolos dari jeratan hukum sanksi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Financial Fair Play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(FFP)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5. Optimalisasi Jam Terbang Riil Bakat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Persentase menit bermain pemain usia dini (&lt;21tahun)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Minimal 20% dari total menit bermain tim utama dalam satu musim diberikan kepada produk akademi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Mewajibkan pelatih kepala untuk melakukan rotasi pemain dan memasang minimal 2 pemain akademi saat laga piala domestik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Pemain muda mendapatkan mental bertanding, pengalaman taktis riil, dan kematangan visi bermain di lapangan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>
            <p:ph type="title"/>
          </p:nvPr>
        </p:nvSpPr>
        <p:spPr>
          <a:xfrm>
            <a:off x="1272075" y="115900"/>
            <a:ext cx="76686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b="1" lang="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Summary: 10 Target Strategis Pengembangan Akademi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t/>
            </a:r>
            <a:endParaRPr b="1" sz="1494"/>
          </a:p>
        </p:txBody>
      </p:sp>
      <p:sp>
        <p:nvSpPr>
          <p:cNvPr id="163" name="Google Shape;163;p16"/>
          <p:cNvSpPr txBox="1"/>
          <p:nvPr>
            <p:ph idx="1" type="body"/>
          </p:nvPr>
        </p:nvSpPr>
        <p:spPr>
          <a:xfrm>
            <a:off x="1272075" y="434625"/>
            <a:ext cx="7604400" cy="4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d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Executive Summary: Matriks Strategi Pengembangan Akademi (Poin 6-10)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4" name="Google Shape;164;p16"/>
          <p:cNvGraphicFramePr/>
          <p:nvPr/>
        </p:nvGraphicFramePr>
        <p:xfrm>
          <a:off x="135200" y="100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{89472646-5AF6-4446-9742-03D57DCBA68D}</a:tableStyleId>
              </a:tblPr>
              <a:tblGrid>
                <a:gridCol w="1397950"/>
                <a:gridCol w="1369450"/>
                <a:gridCol w="1796900"/>
                <a:gridCol w="2537800"/>
                <a:gridCol w="1775525"/>
              </a:tblGrid>
              <a:tr h="338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Goals 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Key Metric 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Target 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Action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100">
                          <a:solidFill>
                            <a:schemeClr val="dk1"/>
                          </a:solidFill>
                        </a:rPr>
                        <a:t>Ideal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6. Menjaga Nilai Pasar Surplus Skuad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Jumlah pemain muda akademi yang dipinjamkan ke liga kompetitif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100% pemain akademi usia 19–21 tahun yang belum menembus tim utama wajib dipinjamkan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Menjalin kerja sama taktis dengan klub kasta kedua atau liga satelit yang memiliki gaya main agresif untuk mematangkan pemain.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Atribut fisik dan taktis pemain tetap berkembang tajam, serta nilai pasar (</a:t>
                      </a:r>
                      <a:r>
                        <a:rPr lang="id" sz="8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value_euro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mereka tidak jatuh akibat menganggur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7. Maksimalisasi ROI (Return on Investment) Finansial Akademi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Keuntungan bersih transfer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Net Transfer Profit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dari produk akademi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Menghasilkan keuntungan minimal €20 Juta per tahun dari penjualan surplus bakat akademi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Menjual pemain akademi yang sudah menyentuh OVR 80+ namun posisinya menumpuk, guna memanfaatkan fenomena lonjakan harga pasar eksponensial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Akademi menjelma menjadi mesin penghasil uang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revenue generator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mandiri yang mampu mendanai aktivitas bisnis klub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8. Standardisasi Filosofi Taktis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Skor kesesuaian atribut teknis pemain akademi dengan tim senior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Tingkat kemiripan profil atribut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Skill Profiling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pemain muda dengan tim utama wajib &gt; 85%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Menerapkan kurikulum bermain dan formasi taktis yang seragam dari level tim akademi U-15 hingga tim senior utama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Pemain muda yang dipromosikan ke tim utama bisa langsung nyetel dengan strategi pelatih tanpa perlu waktu adaptasi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9. Manajemen Risiko Cedera Aset Muda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Jumlah hari absen akibat cedera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Injury Days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per pemain akademi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Menurunkan tingkat cedera otot atau kelelahan pada pemain muda sebesar 40%.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Membangun unit khusus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Sports Science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di akademi untuk memantau batasan beban fisik, daya tahan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stamina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), dan kekuatan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strength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Fisik pemain muda terlindungi sejak dini, mencegah penurunan potensi akibat cedera, dan memperpanjang masa karier mereka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10. Peningkatan Daya Tawar Reputasi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Indeks Reputasi Internasional Klub (</a:t>
                      </a:r>
                      <a:r>
                        <a:rPr lang="id" sz="8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international_reputation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Meningkatkan posisi akademi klub ke dalam daftar Top 5 Akademi Terbaik di tingkat regional dalam 3 tahun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Rutin mengikutsertakan tim akademi ke turnamen internasional bergengsi dan mempublikasikan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success story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lulusan akademi ke media global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Talenta-talenta cilik berbakat dari seluruh penjuru dunia secara sukarela memilih bergabung ke akademi kita dibanding akademi rival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type="title"/>
          </p:nvPr>
        </p:nvSpPr>
        <p:spPr>
          <a:xfrm>
            <a:off x="1077300" y="137300"/>
            <a:ext cx="7259100" cy="5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Preparation &amp; Advanced Cleansing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0" name="Google Shape;170;p17"/>
          <p:cNvGrpSpPr/>
          <p:nvPr/>
        </p:nvGrpSpPr>
        <p:grpSpPr>
          <a:xfrm>
            <a:off x="710789" y="1160521"/>
            <a:ext cx="7764570" cy="1131711"/>
            <a:chOff x="710674" y="1323164"/>
            <a:chExt cx="7300959" cy="731836"/>
          </a:xfrm>
        </p:grpSpPr>
        <p:sp>
          <p:nvSpPr>
            <p:cNvPr id="171" name="Google Shape;171;p17"/>
            <p:cNvSpPr txBox="1"/>
            <p:nvPr/>
          </p:nvSpPr>
          <p:spPr>
            <a:xfrm>
              <a:off x="710674" y="1323164"/>
              <a:ext cx="1842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id" sz="1000">
                  <a:solidFill>
                    <a:schemeClr val="dk1"/>
                  </a:solidFill>
                </a:rPr>
                <a:t>Handling Missing Values (Penanganan Data Kosong)</a:t>
              </a:r>
              <a:endParaRPr sz="4400">
                <a:solidFill>
                  <a:srgbClr val="085630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72" name="Google Shape;172;p17"/>
            <p:cNvSpPr/>
            <p:nvPr/>
          </p:nvSpPr>
          <p:spPr>
            <a:xfrm>
              <a:off x="2552533" y="1323164"/>
              <a:ext cx="5459100" cy="7317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7"/>
            <p:cNvSpPr txBox="1"/>
            <p:nvPr/>
          </p:nvSpPr>
          <p:spPr>
            <a:xfrm>
              <a:off x="2552532" y="1355400"/>
              <a:ext cx="5436000" cy="6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Char char="●"/>
              </a:pPr>
              <a:r>
                <a:rPr b="1" lang="id" sz="1000">
                  <a:solidFill>
                    <a:schemeClr val="lt1"/>
                  </a:solidFill>
                </a:rPr>
                <a:t>Kolom </a:t>
              </a:r>
              <a:r>
                <a:rPr b="1" i="1" lang="id" sz="1000">
                  <a:solidFill>
                    <a:schemeClr val="lt1"/>
                  </a:solidFill>
                </a:rPr>
                <a:t>release_clause_euro</a:t>
              </a:r>
              <a:r>
                <a:rPr b="1" lang="id" sz="1000">
                  <a:solidFill>
                    <a:schemeClr val="lt1"/>
                  </a:solidFill>
                </a:rPr>
                <a:t>:</a:t>
              </a:r>
              <a:r>
                <a:rPr lang="id" sz="1000">
                  <a:solidFill>
                    <a:schemeClr val="lt1"/>
                  </a:solidFill>
                </a:rPr>
                <a:t> Tidak dihapus, alasannya Pemain yang tidak memiliki nilai klausul rilis berarti kontraknya tidak dikunci oleh klub asal, sehingga bisa dinegosiasikan langsung.</a:t>
              </a:r>
              <a:endParaRPr sz="1000">
                <a:solidFill>
                  <a:schemeClr val="lt1"/>
                </a:solidFill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Char char="●"/>
              </a:pPr>
              <a:r>
                <a:rPr b="1" lang="id" sz="1000">
                  <a:solidFill>
                    <a:schemeClr val="lt1"/>
                  </a:solidFill>
                </a:rPr>
                <a:t>Kolom Tim Nasional (</a:t>
              </a:r>
              <a:r>
                <a:rPr b="1" i="1" lang="id" sz="1000">
                  <a:solidFill>
                    <a:schemeClr val="lt1"/>
                  </a:solidFill>
                </a:rPr>
                <a:t>nation_position, nation_jersey_number</a:t>
              </a:r>
              <a:r>
                <a:rPr b="1" lang="id" sz="1000">
                  <a:solidFill>
                    <a:schemeClr val="lt1"/>
                  </a:solidFill>
                </a:rPr>
                <a:t>, dll):</a:t>
              </a:r>
              <a:r>
                <a:rPr lang="id" sz="1000">
                  <a:solidFill>
                    <a:schemeClr val="lt1"/>
                  </a:solidFill>
                </a:rPr>
                <a:t> Sengaja </a:t>
              </a:r>
              <a:r>
                <a:rPr b="1" lang="id" sz="1000">
                  <a:solidFill>
                    <a:schemeClr val="lt1"/>
                  </a:solidFill>
                </a:rPr>
                <a:t>dihapus (</a:t>
              </a:r>
              <a:r>
                <a:rPr b="1" i="1" lang="id" sz="1000">
                  <a:solidFill>
                    <a:schemeClr val="lt1"/>
                  </a:solidFill>
                </a:rPr>
                <a:t>dropped</a:t>
              </a:r>
              <a:r>
                <a:rPr b="1" lang="id" sz="1000">
                  <a:solidFill>
                    <a:schemeClr val="lt1"/>
                  </a:solidFill>
                </a:rPr>
                <a:t>)</a:t>
              </a:r>
              <a:r>
                <a:rPr lang="id" sz="1000">
                  <a:solidFill>
                    <a:schemeClr val="lt1"/>
                  </a:solidFill>
                </a:rPr>
                <a:t> karena memiliki persentase data kosong ekstrem mencapai </a:t>
              </a:r>
              <a:r>
                <a:rPr b="1" lang="id" sz="1000">
                  <a:solidFill>
                    <a:schemeClr val="lt1"/>
                  </a:solidFill>
                </a:rPr>
                <a:t>95%</a:t>
              </a:r>
              <a:r>
                <a:rPr lang="id" sz="1000">
                  <a:solidFill>
                    <a:schemeClr val="lt1"/>
                  </a:solidFill>
                </a:rPr>
                <a:t>. Kolom ini tidak relevan untuk analisis level klub.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4" name="Google Shape;174;p17"/>
          <p:cNvGrpSpPr/>
          <p:nvPr/>
        </p:nvGrpSpPr>
        <p:grpSpPr>
          <a:xfrm>
            <a:off x="710675" y="2571799"/>
            <a:ext cx="7776225" cy="858851"/>
            <a:chOff x="0" y="1896192"/>
            <a:chExt cx="7650000" cy="991287"/>
          </a:xfrm>
        </p:grpSpPr>
        <p:sp>
          <p:nvSpPr>
            <p:cNvPr id="175" name="Google Shape;175;p17"/>
            <p:cNvSpPr txBox="1"/>
            <p:nvPr/>
          </p:nvSpPr>
          <p:spPr>
            <a:xfrm>
              <a:off x="0" y="1896221"/>
              <a:ext cx="1890900" cy="9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id" sz="1000">
                  <a:solidFill>
                    <a:schemeClr val="dk1"/>
                  </a:solidFill>
                </a:rPr>
                <a:t>Data Standardization (Standardisasi Data)</a:t>
              </a:r>
              <a:endParaRPr sz="4400">
                <a:solidFill>
                  <a:srgbClr val="0B713F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76" name="Google Shape;176;p17"/>
            <p:cNvSpPr/>
            <p:nvPr/>
          </p:nvSpPr>
          <p:spPr>
            <a:xfrm>
              <a:off x="1890900" y="1896278"/>
              <a:ext cx="5759100" cy="9912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1929144" y="1896192"/>
              <a:ext cx="5596800" cy="99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Char char="●"/>
              </a:pPr>
              <a:r>
                <a:rPr lang="id" sz="1000">
                  <a:solidFill>
                    <a:schemeClr val="lt1"/>
                  </a:solidFill>
                </a:rPr>
                <a:t>Melakukan pembersihan string/karakter aneh pada nama pemain menggunakan metode </a:t>
              </a:r>
              <a:r>
                <a:rPr i="1" lang="id" sz="1000">
                  <a:solidFill>
                    <a:schemeClr val="lt1"/>
                  </a:solidFill>
                </a:rPr>
                <a:t>.str.strip()</a:t>
              </a:r>
              <a:r>
                <a:rPr lang="id" sz="1000">
                  <a:solidFill>
                    <a:schemeClr val="lt1"/>
                  </a:solidFill>
                </a:rPr>
                <a:t> atau </a:t>
              </a:r>
              <a:r>
                <a:rPr i="1" lang="id" sz="1000">
                  <a:solidFill>
                    <a:schemeClr val="lt1"/>
                  </a:solidFill>
                </a:rPr>
                <a:t>.replace()</a:t>
              </a:r>
              <a:r>
                <a:rPr lang="id" sz="1000">
                  <a:solidFill>
                    <a:schemeClr val="lt1"/>
                  </a:solidFill>
                </a:rPr>
                <a:t>.</a:t>
              </a:r>
              <a:endParaRPr sz="1000">
                <a:solidFill>
                  <a:schemeClr val="lt1"/>
                </a:solidFill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Char char="●"/>
              </a:pPr>
              <a:r>
                <a:rPr lang="id" sz="1000">
                  <a:solidFill>
                    <a:schemeClr val="lt1"/>
                  </a:solidFill>
                </a:rPr>
                <a:t>Memastikan tipe data finansial (</a:t>
              </a:r>
              <a:r>
                <a:rPr i="1" lang="id" sz="1000">
                  <a:solidFill>
                    <a:schemeClr val="lt1"/>
                  </a:solidFill>
                </a:rPr>
                <a:t>value_euro, wage_euro</a:t>
              </a:r>
              <a:r>
                <a:rPr lang="id" sz="1000">
                  <a:solidFill>
                    <a:schemeClr val="lt1"/>
                  </a:solidFill>
                </a:rPr>
                <a:t>) dan atribut teknis bertipe numerik (</a:t>
              </a:r>
              <a:r>
                <a:rPr i="1" lang="id" sz="1000">
                  <a:solidFill>
                    <a:schemeClr val="lt1"/>
                  </a:solidFill>
                </a:rPr>
                <a:t>Integer/Float</a:t>
              </a:r>
              <a:r>
                <a:rPr lang="id" sz="1000">
                  <a:solidFill>
                    <a:schemeClr val="lt1"/>
                  </a:solidFill>
                </a:rPr>
                <a:t>) agar bisa diolah secara statistik.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8" name="Google Shape;178;p17"/>
          <p:cNvGrpSpPr/>
          <p:nvPr/>
        </p:nvGrpSpPr>
        <p:grpSpPr>
          <a:xfrm>
            <a:off x="722887" y="3796858"/>
            <a:ext cx="7764404" cy="957743"/>
            <a:chOff x="755104" y="2643101"/>
            <a:chExt cx="7300803" cy="1125300"/>
          </a:xfrm>
        </p:grpSpPr>
        <p:sp>
          <p:nvSpPr>
            <p:cNvPr id="179" name="Google Shape;179;p17"/>
            <p:cNvSpPr txBox="1"/>
            <p:nvPr/>
          </p:nvSpPr>
          <p:spPr>
            <a:xfrm>
              <a:off x="755104" y="2643101"/>
              <a:ext cx="1821300" cy="112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b="1" lang="id" sz="1000">
                  <a:solidFill>
                    <a:schemeClr val="dk1"/>
                  </a:solidFill>
                </a:rPr>
                <a:t>Advanced Feature Engineering (Pembuatan Indikator Baru)</a:t>
              </a:r>
              <a:endParaRPr sz="4400">
                <a:solidFill>
                  <a:srgbClr val="0B7743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2576406" y="2643101"/>
              <a:ext cx="5479500" cy="1125300"/>
            </a:xfrm>
            <a:prstGeom prst="rect">
              <a:avLst/>
            </a:prstGeom>
            <a:solidFill>
              <a:srgbClr val="0B774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7"/>
            <p:cNvSpPr txBox="1"/>
            <p:nvPr/>
          </p:nvSpPr>
          <p:spPr>
            <a:xfrm>
              <a:off x="2576407" y="2679377"/>
              <a:ext cx="5479500" cy="10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Char char="●"/>
              </a:pPr>
              <a:r>
                <a:rPr i="1" lang="id" sz="1000">
                  <a:solidFill>
                    <a:schemeClr val="lt1"/>
                  </a:solidFill>
                </a:rPr>
                <a:t>growth</a:t>
              </a:r>
              <a:r>
                <a:rPr b="1" lang="id" sz="1000">
                  <a:solidFill>
                    <a:schemeClr val="lt1"/>
                  </a:solidFill>
                </a:rPr>
                <a:t> (Potential - Overall):</a:t>
              </a:r>
              <a:r>
                <a:rPr lang="id" sz="1000">
                  <a:solidFill>
                    <a:schemeClr val="lt1"/>
                  </a:solidFill>
                </a:rPr>
                <a:t> Mengukur sisa ruang berkembang pemain mud</a:t>
              </a:r>
              <a:endParaRPr sz="1000">
                <a:solidFill>
                  <a:schemeClr val="lt1"/>
                </a:solidFill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Char char="●"/>
              </a:pPr>
              <a:r>
                <a:rPr i="1" lang="id" sz="1000">
                  <a:solidFill>
                    <a:schemeClr val="lt1"/>
                  </a:solidFill>
                </a:rPr>
                <a:t>value_per_ovr</a:t>
              </a:r>
              <a:r>
                <a:rPr b="1" lang="id" sz="1000">
                  <a:solidFill>
                    <a:schemeClr val="lt1"/>
                  </a:solidFill>
                </a:rPr>
                <a:t> (Value ÷ Overall):</a:t>
              </a:r>
              <a:r>
                <a:rPr lang="id" sz="1000">
                  <a:solidFill>
                    <a:schemeClr val="lt1"/>
                  </a:solidFill>
                </a:rPr>
                <a:t> Rasio efisiensi harga per satu poin kualitas pemain.</a:t>
              </a:r>
              <a:endParaRPr sz="1000">
                <a:solidFill>
                  <a:schemeClr val="lt1"/>
                </a:solidFill>
              </a:endParaRPr>
            </a:p>
            <a:p>
              <a:pPr indent="-2921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Char char="●"/>
              </a:pPr>
              <a:r>
                <a:rPr i="1" lang="id" sz="1000">
                  <a:solidFill>
                    <a:schemeClr val="lt1"/>
                  </a:solidFill>
                </a:rPr>
                <a:t>age_category</a:t>
              </a:r>
              <a:r>
                <a:rPr b="1" lang="id" sz="1000">
                  <a:solidFill>
                    <a:schemeClr val="lt1"/>
                  </a:solidFill>
                </a:rPr>
                <a:t>:</a:t>
              </a:r>
              <a:r>
                <a:rPr lang="id" sz="1000">
                  <a:solidFill>
                    <a:schemeClr val="lt1"/>
                  </a:solidFill>
                </a:rPr>
                <a:t> Pengelompokan umur menjadi </a:t>
              </a:r>
              <a:r>
                <a:rPr i="1" lang="id" sz="1000">
                  <a:solidFill>
                    <a:schemeClr val="lt1"/>
                  </a:solidFill>
                </a:rPr>
                <a:t>Wonderkid</a:t>
              </a:r>
              <a:r>
                <a:rPr lang="id" sz="1000">
                  <a:solidFill>
                    <a:schemeClr val="lt1"/>
                  </a:solidFill>
                </a:rPr>
                <a:t> (&lt;21), </a:t>
              </a:r>
              <a:r>
                <a:rPr i="1" lang="id" sz="1000">
                  <a:solidFill>
                    <a:schemeClr val="lt1"/>
                  </a:solidFill>
                </a:rPr>
                <a:t>Golden Age</a:t>
              </a:r>
              <a:r>
                <a:rPr lang="id" sz="1000">
                  <a:solidFill>
                    <a:schemeClr val="lt1"/>
                  </a:solidFill>
                </a:rPr>
                <a:t> (21-29), dan </a:t>
              </a:r>
              <a:r>
                <a:rPr i="1" lang="id" sz="1000">
                  <a:solidFill>
                    <a:schemeClr val="lt1"/>
                  </a:solidFill>
                </a:rPr>
                <a:t>Veteran</a:t>
              </a:r>
              <a:r>
                <a:rPr lang="id" sz="1000">
                  <a:solidFill>
                    <a:schemeClr val="lt1"/>
                  </a:solidFill>
                </a:rPr>
                <a:t> (≥30).</a:t>
              </a:r>
              <a:endPara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>
            <p:ph type="title"/>
          </p:nvPr>
        </p:nvSpPr>
        <p:spPr>
          <a:xfrm>
            <a:off x="1297500" y="98150"/>
            <a:ext cx="7038900" cy="5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Validasi Finansial (Kualitas vs Harga)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8"/>
          <p:cNvSpPr txBox="1"/>
          <p:nvPr>
            <p:ph idx="1" type="body"/>
          </p:nvPr>
        </p:nvSpPr>
        <p:spPr>
          <a:xfrm>
            <a:off x="1297500" y="643850"/>
            <a:ext cx="7038900" cy="38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Membuktikan secara ilmiah mengapa </a:t>
            </a:r>
            <a:r>
              <a:rPr b="1"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No. 2, 4, dan 7</a:t>
            </a: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 awal tadi sangat krusial (Karena harga pemain bintang melonjak eksponensial, sehingga membuat pemain sendiri lewat akademi adalah jalan keluar paling hemat)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88" name="Google Shape;188;p18" title="Analisis Makro – Validasi Finansial (Kualitas vs Harga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9613" y="1372925"/>
            <a:ext cx="4924774" cy="310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1297500" y="58725"/>
            <a:ext cx="7038900" cy="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Mengunci Faktor Penentu Hubungan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9"/>
          <p:cNvSpPr txBox="1"/>
          <p:nvPr>
            <p:ph idx="1" type="body"/>
          </p:nvPr>
        </p:nvSpPr>
        <p:spPr>
          <a:xfrm>
            <a:off x="1297500" y="571425"/>
            <a:ext cx="7038900" cy="39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Memvalidasi </a:t>
            </a:r>
            <a:r>
              <a:rPr b="1"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No. 1, 3, dan 9</a:t>
            </a: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Membuktikan bahwa rating utama (0.63) dan potensi (0.58) mengontrol harga, serta usia berkorelasi negatif dengan sisa potensi (-0.26)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19" title="Analisis Multivariat – Mengunci Faktor Penentu Hubunga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5937" y="1091675"/>
            <a:ext cx="4072125" cy="3322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"/>
          <p:cNvSpPr txBox="1"/>
          <p:nvPr>
            <p:ph type="title"/>
          </p:nvPr>
        </p:nvSpPr>
        <p:spPr>
          <a:xfrm>
            <a:off x="1297500" y="85000"/>
            <a:ext cx="7038900" cy="4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Actionable Insight 1 – Implementasi Rekrutmen Bakat Muda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 txBox="1"/>
          <p:nvPr>
            <p:ph idx="1" type="body"/>
          </p:nvPr>
        </p:nvSpPr>
        <p:spPr>
          <a:xfrm>
            <a:off x="1297500" y="558400"/>
            <a:ext cx="7038900" cy="39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Implementasi nyata dari </a:t>
            </a:r>
            <a:r>
              <a:rPr b="1"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No. 1 &amp; 3</a:t>
            </a: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Menunjukkan 10 pemain konkret (seperti S. Sohm dengan </a:t>
            </a:r>
            <a:r>
              <a:rPr i="1"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growth</a:t>
            </a: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26 poin) yang siap direkrut untuk akademi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20" title="Actionable Insight 1 – Implementasi Rekrutmen Bakat Muda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0250" y="1162500"/>
            <a:ext cx="6513401" cy="317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 txBox="1"/>
          <p:nvPr>
            <p:ph type="title"/>
          </p:nvPr>
        </p:nvSpPr>
        <p:spPr>
          <a:xfrm>
            <a:off x="1297500" y="52175"/>
            <a:ext cx="7038900" cy="4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chemeClr val="dk1"/>
                </a:solidFill>
              </a:rPr>
              <a:t>Actionable Insight 2 – Rekrutmen Taktis &amp; Profiling Atribut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208" name="Google Shape;208;p21"/>
          <p:cNvSpPr txBox="1"/>
          <p:nvPr>
            <p:ph idx="1" type="body"/>
          </p:nvPr>
        </p:nvSpPr>
        <p:spPr>
          <a:xfrm>
            <a:off x="1297500" y="532175"/>
            <a:ext cx="7038900" cy="39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Implementasi nyata dari </a:t>
            </a:r>
            <a:r>
              <a:rPr b="1"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No. 8</a:t>
            </a:r>
            <a:r>
              <a:rPr lang="id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(Standardisasi Filosofi Taktis). Menunjukkan bagaimana data bisa mengklasifikasikan tipe penyerang (Ronaldo vs Messi) agar sesuai dengan taktik klub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0862" y="1096175"/>
            <a:ext cx="5342276" cy="332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>
            <p:ph type="title"/>
          </p:nvPr>
        </p:nvSpPr>
        <p:spPr>
          <a:xfrm>
            <a:off x="1051200" y="32450"/>
            <a:ext cx="7285200" cy="4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Matriks Eksekusi Taktis Akademi (Poin 1-5) 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 txBox="1"/>
          <p:nvPr>
            <p:ph idx="1" type="body"/>
          </p:nvPr>
        </p:nvSpPr>
        <p:spPr>
          <a:xfrm>
            <a:off x="1051050" y="472850"/>
            <a:ext cx="7285200" cy="4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id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Solusi Akhir: Matriks Eksekusi Taktis &amp; Kondisi Ideal (Bagian 1)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6" name="Google Shape;216;p22"/>
          <p:cNvGraphicFramePr/>
          <p:nvPr/>
        </p:nvGraphicFramePr>
        <p:xfrm>
          <a:off x="1051050" y="91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{89472646-5AF6-4446-9742-03D57DCBA68D}</a:tableStyleId>
              </a:tblPr>
              <a:tblGrid>
                <a:gridCol w="1565625"/>
                <a:gridCol w="3030450"/>
                <a:gridCol w="2642925"/>
              </a:tblGrid>
              <a:tr h="396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Goals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Action (Tindakan Nyata Berbasis Data)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Ideal (Kondisi Akhir yang Diharapkan)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1. Identifikasi Bakat Berpotensi Tinggi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Menggunakan algoritma Python untuk menyaring pemain luar di bawah usia 18 tahun yang memiliki jarak jauh antara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Overall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saat ini dengan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Potential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.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Akademi diisi 100% oleh aset muda yang memiliki garansi kualitas untuk menjadi pemain bintang di masa depan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2. Efisiensi Anggaran Belanja Pemain Utama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Menghentikan pembelian pemain luar kategori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Golden Age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yang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overpriced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, lalu mengalihkan dananya untuk pembaruan fasilitas latihan akademi.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Klub mandiri secara skuad dan terhindar dari risiko kebangkrutan akibat inflasi harga pasar transfer dunia nyata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3. Akselerasi Kematangan Rating Pemain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Menyusun porsi latihan individu berkala yang fokus pada peningkatan atribut mekanis vital sesuai posisi (misal: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Finishing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untuk penyerang)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Pemain akademi mencapai level elit/matang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peak performance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lebih cepat sebelum mereka menyentuh usia 23 tahun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4. Struktur Gaji Klub yang Sehat &amp; Efisien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Menerapkan kebijakan kontrak profesional berjenjang berbasis performa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performance-based bonus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bagi pemain lulusan akademi yang promosi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Beban finansial klub tetap aman dan lolos dari jeratan hukum sanksi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Financial Fair Play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(FFP)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5. Optimalisasi Jam Terbang Riil Bakat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Mewajibkan pelatih kepala untuk melakukan rotasi pemain dan memasang minimal 2 pemain akademi saat laga piala domestik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Pemain muda mendapatkan mental bertanding, pengalaman taktis riil, dan kematangan visi bermain di lapangan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 txBox="1"/>
          <p:nvPr>
            <p:ph type="title"/>
          </p:nvPr>
        </p:nvSpPr>
        <p:spPr>
          <a:xfrm>
            <a:off x="1051050" y="32450"/>
            <a:ext cx="7285500" cy="4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Matriks Eksekusi Taktis Akademi (Poin 6-10)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3"/>
          <p:cNvSpPr txBox="1"/>
          <p:nvPr>
            <p:ph idx="1" type="body"/>
          </p:nvPr>
        </p:nvSpPr>
        <p:spPr>
          <a:xfrm>
            <a:off x="1050900" y="472850"/>
            <a:ext cx="7285500" cy="4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id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Solusi Akhir: Matriks Eksekusi Taktis &amp; Kondisi Ideal (Bagian 2)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3" name="Google Shape;223;p23"/>
          <p:cNvGraphicFramePr/>
          <p:nvPr/>
        </p:nvGraphicFramePr>
        <p:xfrm>
          <a:off x="1051050" y="913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{89472646-5AF6-4446-9742-03D57DCBA68D}</a:tableStyleId>
              </a:tblPr>
              <a:tblGrid>
                <a:gridCol w="1565625"/>
                <a:gridCol w="3030450"/>
                <a:gridCol w="2642925"/>
              </a:tblGrid>
              <a:tr h="396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Goals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Action (Tindakan Nyata Berbasis Data)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Ideal (Kondisi Akhir yang Diharapkan) 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6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6. Menjaga Nilai Pasar Surplus Skuad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Menjalin kerja sama taktis dengan klub kasta kedua atau liga satelit yang memiliki gaya main agresif untuk mematangkan pemain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Atribut fisik dan taktis pemain tetap berkembang tajam, serta nilai pasar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value_euro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mereka tidak jatuh akibat menganggur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7. Maksimalisasi ROI 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(Return on Investment) 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Finansial Akademi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Menjual pemain akademi yang sudah menyentuh OVR 80+ namun posisinya menumpuk, guna memanfaatkan fenomena lonjakan harga pasar eksponensial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Akademi menjelma menjadi mesin penghasil uang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revenue generator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mandiri yang mampu mendanai aktivitas bisnis klub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8. Standardisasi Filosofi Taktis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Menerapkan kurikulum bermain dan formasi taktis yang seragam dari level tim akademi U-15 hingga tim senior utama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Pemain muda yang dipromosikan ke tim utama bisa langsung nyetel dengan strategi pelatih tanpa perlu waktu adaptasi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9. Manajemen Risiko Cedera Aset Muda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Membangun unit khusus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Sports Science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di akademi untuk memantau batasan beban fisik, daya tahan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stamina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), dan kekuatan (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strength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) 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Fisik pemain muda terlindungi sejak dini, mencegah penurunan potensi akibat cedera, dan memperpanjang masa karier mereka. </a:t>
                      </a:r>
                      <a:endParaRPr sz="5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10. Peningkatan Daya Tawar Reputasi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Rutin mengikutsertakan tim akademi ke turnamen internasional bergengsi dan mempublikasikan </a:t>
                      </a:r>
                      <a:r>
                        <a:rPr i="1" lang="id" sz="800">
                          <a:solidFill>
                            <a:schemeClr val="dk1"/>
                          </a:solidFill>
                        </a:rPr>
                        <a:t>success story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 lulusan akademi ke media global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Talenta-talenta cilik berbakat dari seluruh penjuru dunia secara sukarela memilih bergabung ke akademi kita dibanding akademi rival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 txBox="1"/>
          <p:nvPr>
            <p:ph type="title"/>
          </p:nvPr>
        </p:nvSpPr>
        <p:spPr>
          <a:xfrm>
            <a:off x="1037900" y="39025"/>
            <a:ext cx="7449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Visualisasi Power Bi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24" title="WhatsApp Image 2026-06-08 at 20.12.2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4640" y="863491"/>
            <a:ext cx="6075825" cy="341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>
            <p:ph type="title"/>
          </p:nvPr>
        </p:nvSpPr>
        <p:spPr>
          <a:xfrm>
            <a:off x="1037900" y="39025"/>
            <a:ext cx="7449300" cy="5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Kesimpulan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5" name="Google Shape;235;p25"/>
          <p:cNvGraphicFramePr/>
          <p:nvPr/>
        </p:nvGraphicFramePr>
        <p:xfrm>
          <a:off x="1037900" y="558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{89472646-5AF6-4446-9742-03D57DCBA68D}</a:tableStyleId>
              </a:tblPr>
              <a:tblGrid>
                <a:gridCol w="4005525"/>
                <a:gridCol w="3443700"/>
              </a:tblGrid>
              <a:tr h="2873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Kesimpulan &amp; Solusi Strategis Skuad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Validasi Finansial:</a:t>
                      </a:r>
                      <a:r>
                        <a:rPr lang="id" sz="1000">
                          <a:solidFill>
                            <a:schemeClr val="dk1"/>
                          </a:solidFill>
                        </a:rPr>
                        <a:t> Data korelasi </a:t>
                      </a: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0.86</a:t>
                      </a:r>
                      <a:r>
                        <a:rPr lang="id" sz="1000">
                          <a:solidFill>
                            <a:schemeClr val="dk1"/>
                          </a:solidFill>
                        </a:rPr>
                        <a:t> membuktikan rekrutmen pemain matang dari luar selalu membebani struktur gaji klub dalam jangka panjang.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Investasi Usia Dini:</a:t>
                      </a:r>
                      <a:r>
                        <a:rPr lang="id" sz="1000">
                          <a:solidFill>
                            <a:schemeClr val="dk1"/>
                          </a:solidFill>
                        </a:rPr>
                        <a:t> Korelasi negatif antara usia dan potensi (</a:t>
                      </a: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-0.26</a:t>
                      </a:r>
                      <a:r>
                        <a:rPr lang="id" sz="1000">
                          <a:solidFill>
                            <a:schemeClr val="dk1"/>
                          </a:solidFill>
                        </a:rPr>
                        <a:t>) menegaskan bahwa ruang pertumbuhan terbesar hanya ada pada pemain akademi.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Efisiensi Rekrutmen:</a:t>
                      </a:r>
                      <a:r>
                        <a:rPr lang="id" sz="1000">
                          <a:solidFill>
                            <a:schemeClr val="dk1"/>
                          </a:solidFill>
                        </a:rPr>
                        <a:t> Pemanfaatan metrik buatan </a:t>
                      </a:r>
                      <a:r>
                        <a:rPr i="1" lang="id" sz="10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growth</a:t>
                      </a:r>
                      <a:r>
                        <a:rPr lang="id" sz="1000">
                          <a:solidFill>
                            <a:schemeClr val="dk1"/>
                          </a:solidFill>
                        </a:rPr>
                        <a:t> dan rasio </a:t>
                      </a:r>
                      <a:r>
                        <a:rPr i="1" lang="id" sz="10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value_per_ovr</a:t>
                      </a:r>
                      <a:r>
                        <a:rPr lang="id" sz="1000">
                          <a:solidFill>
                            <a:schemeClr val="dk1"/>
                          </a:solidFill>
                        </a:rPr>
                        <a:t> berhasil memangkas bias intuisi dalam menyaring bakat potensial.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-2921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Char char="●"/>
                      </a:pPr>
                      <a:r>
                        <a:rPr b="1" lang="id" sz="1000">
                          <a:solidFill>
                            <a:schemeClr val="dk1"/>
                          </a:solidFill>
                        </a:rPr>
                        <a:t>Blueprint Operasional:</a:t>
                      </a:r>
                      <a:r>
                        <a:rPr lang="id" sz="1000">
                          <a:solidFill>
                            <a:schemeClr val="dk1"/>
                          </a:solidFill>
                        </a:rPr>
                        <a:t> 10 Matriks Strategi yang dihasilkan siap menjadi kompas manajemen untuk menjaga kesehatan keuangan dan prestasi klub.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36" name="Google Shape;236;p25" title="Analisis Multivariat – Mengunci Faktor Penentu Hubungan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8600" y="1004250"/>
            <a:ext cx="2429350" cy="1982101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37" name="Google Shape;237;p25"/>
          <p:cNvSpPr txBox="1"/>
          <p:nvPr>
            <p:ph idx="1" type="body"/>
          </p:nvPr>
        </p:nvSpPr>
        <p:spPr>
          <a:xfrm>
            <a:off x="1037900" y="3931525"/>
            <a:ext cx="7449300" cy="6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Terima Kasih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id" sz="89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arifhanifan22@gmail.com</a:t>
            </a:r>
            <a:endParaRPr i="1" sz="89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